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87" r:id="rId3"/>
    <p:sldId id="286" r:id="rId4"/>
    <p:sldId id="318" r:id="rId5"/>
    <p:sldId id="324" r:id="rId6"/>
    <p:sldId id="327" r:id="rId7"/>
    <p:sldId id="320" r:id="rId8"/>
    <p:sldId id="328" r:id="rId9"/>
    <p:sldId id="321" r:id="rId10"/>
    <p:sldId id="322" r:id="rId11"/>
    <p:sldId id="323" r:id="rId12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6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0T03:16:12.75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1,'6'0,"3"0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0T03:16:14.69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119 1,'-7'0,"-1"5,-7 3,-7-1,1 5,-3 0,3-1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0T03:16:14.77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0T03:16:16.85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0 138 0,'1925'-138'0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0T03:16:30.49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0 107,'16'-10,"0"-1,0 1,2 1,-1 1,1 1,34-11,-34 12,4-1,0 1,0 2,0 0,0 1,24 0,118 3,-93 2,724 0,-759-2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0T03:16:42.985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1,'1700'0,"-1667"0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10T03:17:05.70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1,'719'0,"-700"0,0 1,1 0,-1 2,0 0,-1 1,1 1,-1 0,0 1,0 1,18 9,-19-7,1-1,0-1,1-1,-1 0,21 3,102 13,-66-12,-22-3,-9-1,78 20,-81-16,77 9,-76-14,70 18,-107-22,0 1,0 0,-1 0,1 0,0 0,-1 1,0-1,1 1,-1 0,6 7,5 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22342-FD95-F97A-D099-862133E8D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60A2D0-E5E6-F803-DD57-E1B0968DE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0EC929-9FAB-B8D8-D504-38FB7B0FD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0710F4-90C6-7881-2EB5-051A3323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A70354-5322-4B7E-1371-BE0904AB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18420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12215-B3B2-7A5A-EBBD-4C65CBF5E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E8DE9F-B3E7-DECF-33C8-E98F76B97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3AC6D8-F547-8FD4-DFE8-2E9C5E04F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8A83A-8734-98CF-5D30-F05952373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332EE4-1011-DF31-2E4C-29B51FB0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3351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FF96D-D48C-064F-7C4C-0EAB13AB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C7B2AA-95AE-C9E7-EA9B-62CD96FBB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A312AD-DBDD-1649-8C73-02139256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DF05D8-91F6-4B89-739E-89F340D2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E7AA18-DB43-B5FA-51C4-FA31524A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88088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F9261B-8BA0-4515-5198-2660BB5F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F35D1B-1D7F-9CB8-ACF2-F251012DE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F755D5-9CAA-ABF9-E32D-A943CAC0D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1A3FCC-A818-EA5D-4261-740D23D8B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0F68ED-7113-7DD3-30F4-A585FD8A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EB9C74-F167-3E36-195E-E42E4D3A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2326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52B59-70F7-F669-BEB2-2B924B36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7ED095-0915-C0FB-C2FF-9646B3181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808142-E040-F366-CD91-4E7B89E2C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82A089-1570-77A5-91B9-9C2FF24CC5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ECE6BB-24CF-F656-614D-5CBFD76ED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B42C700-E162-AF69-F9D5-01931C98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8C68E6B-402A-2E18-B0C8-1AF564207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95DE6F0-A304-A212-839E-82175B9D5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9999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738D6-9F4E-6694-C97F-0C8E1465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16F6389-FA46-1C1A-639A-3674B603A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406019C-4320-1155-105C-CEAECAE36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9846FE-DAF7-B7A6-57EE-D84F1C60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62830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F1FB027-0C44-4370-D10F-0A2C22F2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303BE9E-2266-8C3C-5C9F-CEF13B6B9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1D2A5A-3BBA-0F62-DFDA-213E82CD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13851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4205C-7A63-40AF-54A9-6DD6264EE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2FEAA-4FB5-650E-1059-5CA8532E4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4A4A12-5049-39AE-795A-9FD74FF4D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84FDC8-C2CC-64C7-20B9-C9E11FAC6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015551-1469-1499-847C-FB9CEE94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B523C32-7C8A-ADA7-F94B-950809987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29717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8C21D-5D1F-5C29-A206-BCCA2B18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D8C2E7F-22E5-BF54-6BAB-5CC52F1D5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582A96-53F1-C174-21CF-6E98796F4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973ADC-D9DA-EEC0-0060-7EBEB7733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471DA2-9EC2-BC24-A91D-3BA9D6BF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0EFD27-7FF6-2E2E-0653-15A25B91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852801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40C21-CD4F-4A9C-8EDF-C136961E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1AD737-8809-00A2-8398-22E4E4CFA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6AA55C-4301-AD9B-A209-AB75A673F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15604E-585E-EA45-EE9E-FDB99D659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180ACD-7304-50F0-E862-777E166FF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15328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0C8E9A-D742-A3B8-2D4E-6BBEAF57E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5FC95A-1654-D52B-570B-A083C456A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ED0065-66C9-4265-C324-5574C724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628503-E4CD-95F4-A0CF-4874590A5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2E3F0C-3A24-CB76-5EAD-C139C3364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9907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59FFCD1-9825-0803-AF44-34A23FFA2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963D43-8F85-435D-B0B7-437120181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578ADF-6E75-332D-ED12-3AC519A72E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ACFB24-5835-4654-A3F9-3A74E3CE976A}" type="datetimeFigureOut">
              <a:rPr lang="es-BO" smtClean="0"/>
              <a:t>22/7/2026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277DA-B45E-BFD1-D19B-AE228AFD7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8F577C-1C16-EF24-4C79-515E80FE09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DF30B-844F-4517-A2E5-2FEE97BA3CC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7312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image" Target="../media/image1.jpe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7896-869E-7EEC-7856-063257230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61967C6-8EEC-554A-4263-97BC0EF15E81}"/>
              </a:ext>
            </a:extLst>
          </p:cNvPr>
          <p:cNvCxnSpPr/>
          <p:nvPr/>
        </p:nvCxnSpPr>
        <p:spPr>
          <a:xfrm>
            <a:off x="2207568" y="1052736"/>
            <a:ext cx="0" cy="374441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laca 1">
            <a:extLst>
              <a:ext uri="{FF2B5EF4-FFF2-40B4-BE49-F238E27FC236}">
                <a16:creationId xmlns:a16="http://schemas.microsoft.com/office/drawing/2014/main" id="{E0CDE5C3-DE83-2B3C-0BA7-AF9125F1FB12}"/>
              </a:ext>
            </a:extLst>
          </p:cNvPr>
          <p:cNvSpPr/>
          <p:nvPr/>
        </p:nvSpPr>
        <p:spPr>
          <a:xfrm>
            <a:off x="73573" y="44624"/>
            <a:ext cx="12023834" cy="720080"/>
          </a:xfrm>
          <a:prstGeom prst="plaque">
            <a:avLst/>
          </a:prstGeom>
          <a:solidFill>
            <a:srgbClr val="7030A0"/>
          </a:solidFill>
          <a:ln>
            <a:noFill/>
          </a:ln>
          <a:scene3d>
            <a:camera prst="obliqueBottomRight"/>
            <a:lightRig rig="threePt" dir="t"/>
          </a:scene3d>
          <a:sp3d extrusionH="2540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FORMA O CONFIGURACION DEL TERRITORIO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B748E8E-E75A-7944-5872-6B6CF0DBA8CA}"/>
              </a:ext>
            </a:extLst>
          </p:cNvPr>
          <p:cNvSpPr txBox="1"/>
          <p:nvPr/>
        </p:nvSpPr>
        <p:spPr>
          <a:xfrm>
            <a:off x="2693140" y="1163623"/>
            <a:ext cx="7272807" cy="1282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Países de forma circular o Armónica 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Puntos de la periferia  son equidistantes del centro.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Bolivia, Colombia, España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64DB58D-E7B1-A9DD-0F1D-DCFC2F60C621}"/>
              </a:ext>
            </a:extLst>
          </p:cNvPr>
          <p:cNvSpPr/>
          <p:nvPr/>
        </p:nvSpPr>
        <p:spPr>
          <a:xfrm>
            <a:off x="1991545" y="1248065"/>
            <a:ext cx="445189" cy="284891"/>
          </a:xfrm>
          <a:prstGeom prst="roundRect">
            <a:avLst/>
          </a:prstGeom>
          <a:solidFill>
            <a:srgbClr val="A568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1</a:t>
            </a:r>
            <a:endParaRPr lang="es-BO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C11C405-9FE3-3889-4342-993D6C4A88F2}"/>
              </a:ext>
            </a:extLst>
          </p:cNvPr>
          <p:cNvSpPr txBox="1"/>
          <p:nvPr/>
        </p:nvSpPr>
        <p:spPr>
          <a:xfrm>
            <a:off x="2711624" y="2636912"/>
            <a:ext cx="6947379" cy="1282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Países de forma irregular 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Puntos de la periferia  están a diferentes distancias del centro,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Alaska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523534D9-A3C2-4C62-0505-A67CBE614158}"/>
              </a:ext>
            </a:extLst>
          </p:cNvPr>
          <p:cNvSpPr/>
          <p:nvPr/>
        </p:nvSpPr>
        <p:spPr>
          <a:xfrm>
            <a:off x="2010030" y="2763394"/>
            <a:ext cx="445189" cy="284891"/>
          </a:xfrm>
          <a:prstGeom prst="roundRect">
            <a:avLst/>
          </a:prstGeom>
          <a:solidFill>
            <a:srgbClr val="A568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2</a:t>
            </a:r>
            <a:endParaRPr lang="es-BO" sz="16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5E2BA4E-E5A0-5831-26AE-BD7BB3230B30}"/>
              </a:ext>
            </a:extLst>
          </p:cNvPr>
          <p:cNvSpPr txBox="1"/>
          <p:nvPr/>
        </p:nvSpPr>
        <p:spPr>
          <a:xfrm>
            <a:off x="2693139" y="4077072"/>
            <a:ext cx="7272808" cy="1282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Países de forma de faja 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Tiene longitud desproporcionada con respecto a su ancho.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Chile, Argentina, Finlandia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ADD6820B-8C4E-4433-6FE2-1D641DE11585}"/>
              </a:ext>
            </a:extLst>
          </p:cNvPr>
          <p:cNvSpPr/>
          <p:nvPr/>
        </p:nvSpPr>
        <p:spPr>
          <a:xfrm>
            <a:off x="1991545" y="4193044"/>
            <a:ext cx="445189" cy="284891"/>
          </a:xfrm>
          <a:prstGeom prst="roundRect">
            <a:avLst/>
          </a:prstGeom>
          <a:solidFill>
            <a:srgbClr val="A568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/>
              <a:t>3</a:t>
            </a:r>
            <a:endParaRPr lang="es-BO" sz="1600" dirty="0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8FBF31FA-B977-C879-957E-BAAB6159D595}"/>
              </a:ext>
            </a:extLst>
          </p:cNvPr>
          <p:cNvCxnSpPr>
            <a:cxnSpLocks/>
          </p:cNvCxnSpPr>
          <p:nvPr/>
        </p:nvCxnSpPr>
        <p:spPr>
          <a:xfrm>
            <a:off x="2423592" y="4324626"/>
            <a:ext cx="36004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75343342-14D2-ABE4-942E-E6EAEBD784C6}"/>
              </a:ext>
            </a:extLst>
          </p:cNvPr>
          <p:cNvCxnSpPr>
            <a:cxnSpLocks/>
          </p:cNvCxnSpPr>
          <p:nvPr/>
        </p:nvCxnSpPr>
        <p:spPr>
          <a:xfrm>
            <a:off x="2455218" y="2894976"/>
            <a:ext cx="36004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9AE76F00-52E4-C378-35DE-2D37A8C66767}"/>
              </a:ext>
            </a:extLst>
          </p:cNvPr>
          <p:cNvCxnSpPr>
            <a:cxnSpLocks/>
          </p:cNvCxnSpPr>
          <p:nvPr/>
        </p:nvCxnSpPr>
        <p:spPr>
          <a:xfrm>
            <a:off x="2423592" y="1412776"/>
            <a:ext cx="36004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584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BB6C2-9D76-0AB0-634F-A58CBCA3B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1">
            <a:extLst>
              <a:ext uri="{FF2B5EF4-FFF2-40B4-BE49-F238E27FC236}">
                <a16:creationId xmlns:a16="http://schemas.microsoft.com/office/drawing/2014/main" id="{3C4F5C96-ADF4-4FB6-F854-B4750F6A0D80}"/>
              </a:ext>
            </a:extLst>
          </p:cNvPr>
          <p:cNvSpPr/>
          <p:nvPr/>
        </p:nvSpPr>
        <p:spPr>
          <a:xfrm>
            <a:off x="1703512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FORMA O CONFIGURACION DEL TERRITORIO</a:t>
            </a:r>
            <a:endParaRPr lang="es-BO" sz="2400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0CAB6A1-67E7-B4BC-5B5A-B89F17A8C504}"/>
              </a:ext>
            </a:extLst>
          </p:cNvPr>
          <p:cNvSpPr txBox="1"/>
          <p:nvPr/>
        </p:nvSpPr>
        <p:spPr>
          <a:xfrm>
            <a:off x="1050135" y="2580017"/>
            <a:ext cx="5557142" cy="1282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Favorece al empleo de las FF.TT.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Favorece a la movilización y concentración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No existe zonas aisladas o difíciles de defender</a:t>
            </a:r>
            <a:endParaRPr lang="es-BO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BAF7688-FFF5-C592-05ED-66D5CDFA16E6}"/>
              </a:ext>
            </a:extLst>
          </p:cNvPr>
          <p:cNvSpPr txBox="1"/>
          <p:nvPr/>
        </p:nvSpPr>
        <p:spPr>
          <a:xfrm>
            <a:off x="523569" y="997236"/>
            <a:ext cx="4510655" cy="45147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INFLUENCIA SOBRE LAS OPERACIONES</a:t>
            </a:r>
            <a:endParaRPr lang="es-BO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62A3D4C-D4DE-D8F1-1485-895F2F879A4F}"/>
              </a:ext>
            </a:extLst>
          </p:cNvPr>
          <p:cNvSpPr txBox="1"/>
          <p:nvPr/>
        </p:nvSpPr>
        <p:spPr>
          <a:xfrm>
            <a:off x="1050135" y="1970958"/>
            <a:ext cx="1943788" cy="4514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Forma circular</a:t>
            </a:r>
            <a:endParaRPr lang="es-BO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2B4B830-CEFE-7450-DD07-194EEE606030}"/>
              </a:ext>
            </a:extLst>
          </p:cNvPr>
          <p:cNvSpPr txBox="1"/>
          <p:nvPr/>
        </p:nvSpPr>
        <p:spPr>
          <a:xfrm>
            <a:off x="6875747" y="2805752"/>
            <a:ext cx="5557142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Las condiciones contrarias a las de forma faja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Las salientes y entradas dificultan la defensa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BBF2627-3F7C-6A89-46AD-A043328BE34C}"/>
              </a:ext>
            </a:extLst>
          </p:cNvPr>
          <p:cNvSpPr txBox="1"/>
          <p:nvPr/>
        </p:nvSpPr>
        <p:spPr>
          <a:xfrm>
            <a:off x="6875747" y="2196693"/>
            <a:ext cx="1943788" cy="4514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Forma irregular</a:t>
            </a:r>
            <a:endParaRPr lang="es-BO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CB28024-8E5D-4DFC-9570-114E722B8FB0}"/>
              </a:ext>
            </a:extLst>
          </p:cNvPr>
          <p:cNvSpPr txBox="1"/>
          <p:nvPr/>
        </p:nvSpPr>
        <p:spPr>
          <a:xfrm>
            <a:off x="1318605" y="5072495"/>
            <a:ext cx="5557142" cy="1282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Desfavorable para las operaciones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Invasión transversal divide al defensor,  en 2 núcleos fuertes, que afecta al invasor.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49D0DD7-8B34-962A-98B0-93CFFD97C16F}"/>
              </a:ext>
            </a:extLst>
          </p:cNvPr>
          <p:cNvSpPr txBox="1"/>
          <p:nvPr/>
        </p:nvSpPr>
        <p:spPr>
          <a:xfrm>
            <a:off x="1318605" y="4463436"/>
            <a:ext cx="1943788" cy="4514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dirty="0">
                <a:solidFill>
                  <a:srgbClr val="C00000"/>
                </a:solidFill>
                <a:latin typeface="Bahnschrift SemiBold" panose="020B0502040204020203" pitchFamily="34" charset="0"/>
              </a:rPr>
              <a:t>Forma de faja</a:t>
            </a:r>
            <a:endParaRPr lang="es-BO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6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1">
            <a:extLst>
              <a:ext uri="{FF2B5EF4-FFF2-40B4-BE49-F238E27FC236}">
                <a16:creationId xmlns:a16="http://schemas.microsoft.com/office/drawing/2014/main" id="{944283DD-75ED-FAB0-301C-040A01737424}"/>
              </a:ext>
            </a:extLst>
          </p:cNvPr>
          <p:cNvSpPr/>
          <p:nvPr/>
        </p:nvSpPr>
        <p:spPr>
          <a:xfrm>
            <a:off x="1703512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ASPECTOS GEOGRÁFICOS Y LA INFLUENCIA MILITAR 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A371F42-073D-D824-D289-4DF040D3DACB}"/>
              </a:ext>
            </a:extLst>
          </p:cNvPr>
          <p:cNvSpPr txBox="1"/>
          <p:nvPr/>
        </p:nvSpPr>
        <p:spPr>
          <a:xfrm>
            <a:off x="870155" y="1095400"/>
            <a:ext cx="9985309" cy="877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La morfografía</a:t>
            </a:r>
            <a:r>
              <a:rPr lang="es-ES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, describe la forma del terreno, las elevaciones, las características de la vegetación, y otros elementos que definen la superficie de una zona</a:t>
            </a:r>
            <a:r>
              <a:rPr lang="es-ES" b="0" i="0" dirty="0">
                <a:solidFill>
                  <a:srgbClr val="545D7E"/>
                </a:solidFill>
                <a:effectLst/>
                <a:latin typeface="Google Sans"/>
              </a:rPr>
              <a:t>. </a:t>
            </a:r>
            <a:endParaRPr lang="es-BO" dirty="0">
              <a:solidFill>
                <a:srgbClr val="0070C0"/>
              </a:solidFill>
              <a:latin typeface="Bahnschrift SemiBold" panose="020B0502040204020203" pitchFamily="34" charset="0"/>
              <a:ea typeface="Times New Roman" panose="02020603050405020304" pitchFamily="18" charset="0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871E272C-B0A0-AF58-B1E2-D47E4D5A833F}"/>
              </a:ext>
            </a:extLst>
          </p:cNvPr>
          <p:cNvGrpSpPr/>
          <p:nvPr/>
        </p:nvGrpSpPr>
        <p:grpSpPr>
          <a:xfrm>
            <a:off x="1415845" y="2303644"/>
            <a:ext cx="6415548" cy="2976279"/>
            <a:chOff x="2382190" y="2877666"/>
            <a:chExt cx="6961238" cy="3537883"/>
          </a:xfrm>
        </p:grpSpPr>
        <p:pic>
          <p:nvPicPr>
            <p:cNvPr id="1026" name="Picture 2" descr="ESCUELA NORMAL SUPERIOR SARMIENTO-PRIMER AÑO-GEOGRAFIA">
              <a:extLst>
                <a:ext uri="{FF2B5EF4-FFF2-40B4-BE49-F238E27FC236}">
                  <a16:creationId xmlns:a16="http://schemas.microsoft.com/office/drawing/2014/main" id="{6063248F-D18F-3071-E5AF-14AEE45DDA7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3" t="6272" r="3413" b="4702"/>
            <a:stretch/>
          </p:blipFill>
          <p:spPr bwMode="auto">
            <a:xfrm>
              <a:off x="2382190" y="2877666"/>
              <a:ext cx="6961238" cy="35378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Entrada de lápiz 13">
                  <a:extLst>
                    <a:ext uri="{FF2B5EF4-FFF2-40B4-BE49-F238E27FC236}">
                      <a16:creationId xmlns:a16="http://schemas.microsoft.com/office/drawing/2014/main" id="{EE524828-4EBD-0D12-AF37-D10C2EC3BC73}"/>
                    </a:ext>
                  </a:extLst>
                </p14:cNvPr>
                <p14:cNvContentPartPr/>
                <p14:nvPr/>
              </p14:nvContentPartPr>
              <p14:xfrm>
                <a:off x="8347506" y="3140756"/>
                <a:ext cx="6120" cy="360"/>
              </p14:xfrm>
            </p:contentPart>
          </mc:Choice>
          <mc:Fallback xmlns="">
            <p:pic>
              <p:nvPicPr>
                <p:cNvPr id="14" name="Entrada de lápiz 13">
                  <a:extLst>
                    <a:ext uri="{FF2B5EF4-FFF2-40B4-BE49-F238E27FC236}">
                      <a16:creationId xmlns:a16="http://schemas.microsoft.com/office/drawing/2014/main" id="{EE524828-4EBD-0D12-AF37-D10C2EC3BC7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290131" y="3033116"/>
                  <a:ext cx="120488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442170C4-B0BB-E0CA-76FE-59945571D0B8}"/>
                    </a:ext>
                  </a:extLst>
                </p14:cNvPr>
                <p14:cNvContentPartPr/>
                <p14:nvPr/>
              </p14:nvContentPartPr>
              <p14:xfrm>
                <a:off x="8330586" y="3126356"/>
                <a:ext cx="46440" cy="2376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442170C4-B0BB-E0CA-76FE-59945571D0B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72438" y="2999495"/>
                  <a:ext cx="163125" cy="277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343E91D4-1705-342D-9D37-531B5C6AFC86}"/>
                    </a:ext>
                  </a:extLst>
                </p14:cNvPr>
                <p14:cNvContentPartPr/>
                <p14:nvPr/>
              </p14:nvContentPartPr>
              <p14:xfrm>
                <a:off x="8317626" y="3155876"/>
                <a:ext cx="360" cy="36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343E91D4-1705-342D-9D37-531B5C6AFC8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263986" y="3048236"/>
                  <a:ext cx="108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1" name="Entrada de lápiz 20">
                  <a:extLst>
                    <a:ext uri="{FF2B5EF4-FFF2-40B4-BE49-F238E27FC236}">
                      <a16:creationId xmlns:a16="http://schemas.microsoft.com/office/drawing/2014/main" id="{36621472-04AA-44BF-351E-3148C70FD764}"/>
                    </a:ext>
                  </a:extLst>
                </p14:cNvPr>
                <p14:cNvContentPartPr/>
                <p14:nvPr/>
              </p14:nvContentPartPr>
              <p14:xfrm>
                <a:off x="8317626" y="3096836"/>
                <a:ext cx="752400" cy="59400"/>
              </p14:xfrm>
            </p:contentPart>
          </mc:Choice>
          <mc:Fallback xmlns="">
            <p:pic>
              <p:nvPicPr>
                <p:cNvPr id="21" name="Entrada de lápiz 20">
                  <a:extLst>
                    <a:ext uri="{FF2B5EF4-FFF2-40B4-BE49-F238E27FC236}">
                      <a16:creationId xmlns:a16="http://schemas.microsoft.com/office/drawing/2014/main" id="{36621472-04AA-44BF-351E-3148C70FD76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259028" y="2968635"/>
                  <a:ext cx="869206" cy="3153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Entrada de lápiz 21">
                  <a:extLst>
                    <a:ext uri="{FF2B5EF4-FFF2-40B4-BE49-F238E27FC236}">
                      <a16:creationId xmlns:a16="http://schemas.microsoft.com/office/drawing/2014/main" id="{705E192A-C9F6-A32E-93A5-811EAC2BDA6B}"/>
                    </a:ext>
                  </a:extLst>
                </p14:cNvPr>
                <p14:cNvContentPartPr/>
                <p14:nvPr/>
              </p14:nvContentPartPr>
              <p14:xfrm>
                <a:off x="5662986" y="4216076"/>
                <a:ext cx="544320" cy="46080"/>
              </p14:xfrm>
            </p:contentPart>
          </mc:Choice>
          <mc:Fallback xmlns="">
            <p:pic>
              <p:nvPicPr>
                <p:cNvPr id="22" name="Entrada de lápiz 21">
                  <a:extLst>
                    <a:ext uri="{FF2B5EF4-FFF2-40B4-BE49-F238E27FC236}">
                      <a16:creationId xmlns:a16="http://schemas.microsoft.com/office/drawing/2014/main" id="{705E192A-C9F6-A32E-93A5-811EAC2BDA6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604415" y="4088503"/>
                  <a:ext cx="661072" cy="3016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3" name="Entrada de lápiz 22">
                  <a:extLst>
                    <a:ext uri="{FF2B5EF4-FFF2-40B4-BE49-F238E27FC236}">
                      <a16:creationId xmlns:a16="http://schemas.microsoft.com/office/drawing/2014/main" id="{4ECCE9DC-C300-C5CF-F988-8D9D2E6B2D59}"/>
                    </a:ext>
                  </a:extLst>
                </p14:cNvPr>
                <p14:cNvContentPartPr/>
                <p14:nvPr/>
              </p14:nvContentPartPr>
              <p14:xfrm>
                <a:off x="2536386" y="4896116"/>
                <a:ext cx="677160" cy="360"/>
              </p14:xfrm>
            </p:contentPart>
          </mc:Choice>
          <mc:Fallback xmlns="">
            <p:pic>
              <p:nvPicPr>
                <p:cNvPr id="23" name="Entrada de lápiz 22">
                  <a:extLst>
                    <a:ext uri="{FF2B5EF4-FFF2-40B4-BE49-F238E27FC236}">
                      <a16:creationId xmlns:a16="http://schemas.microsoft.com/office/drawing/2014/main" id="{4ECCE9DC-C300-C5CF-F988-8D9D2E6B2D5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477808" y="4788476"/>
                  <a:ext cx="793925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" name="Entrada de lápiz 23">
                  <a:extLst>
                    <a:ext uri="{FF2B5EF4-FFF2-40B4-BE49-F238E27FC236}">
                      <a16:creationId xmlns:a16="http://schemas.microsoft.com/office/drawing/2014/main" id="{CBBD82CB-F4B3-14CB-61A9-6D626F2F93B5}"/>
                    </a:ext>
                  </a:extLst>
                </p14:cNvPr>
                <p14:cNvContentPartPr/>
                <p14:nvPr/>
              </p14:nvContentPartPr>
              <p14:xfrm>
                <a:off x="8037546" y="5692076"/>
                <a:ext cx="738720" cy="118080"/>
              </p14:xfrm>
            </p:contentPart>
          </mc:Choice>
          <mc:Fallback xmlns="">
            <p:pic>
              <p:nvPicPr>
                <p:cNvPr id="24" name="Entrada de lápiz 23">
                  <a:extLst>
                    <a:ext uri="{FF2B5EF4-FFF2-40B4-BE49-F238E27FC236}">
                      <a16:creationId xmlns:a16="http://schemas.microsoft.com/office/drawing/2014/main" id="{CBBD82CB-F4B3-14CB-61A9-6D626F2F93B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78948" y="5564156"/>
                  <a:ext cx="855524" cy="374348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A840B90-4B3D-8463-82ED-9A23EC3B374F}"/>
              </a:ext>
            </a:extLst>
          </p:cNvPr>
          <p:cNvSpPr txBox="1"/>
          <p:nvPr/>
        </p:nvSpPr>
        <p:spPr>
          <a:xfrm>
            <a:off x="1150374" y="5464302"/>
            <a:ext cx="7359445" cy="462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Dirigidas a establecer ventajas y desventajas en las operaciones</a:t>
            </a:r>
            <a:r>
              <a:rPr lang="es-ES" b="0" i="0" dirty="0">
                <a:solidFill>
                  <a:srgbClr val="545D7E"/>
                </a:solidFill>
                <a:effectLst/>
                <a:latin typeface="Google Sans"/>
              </a:rPr>
              <a:t>. </a:t>
            </a:r>
            <a:endParaRPr lang="es-BO" dirty="0">
              <a:solidFill>
                <a:srgbClr val="0070C0"/>
              </a:solidFill>
              <a:latin typeface="Bahnschrift SemiBold" panose="020B0502040204020203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25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A66BE-A8D5-6B4B-0A47-5F6C6E576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1">
            <a:extLst>
              <a:ext uri="{FF2B5EF4-FFF2-40B4-BE49-F238E27FC236}">
                <a16:creationId xmlns:a16="http://schemas.microsoft.com/office/drawing/2014/main" id="{72415B16-1F77-B6BF-DDE8-322EB7DD776E}"/>
              </a:ext>
            </a:extLst>
          </p:cNvPr>
          <p:cNvSpPr/>
          <p:nvPr/>
        </p:nvSpPr>
        <p:spPr>
          <a:xfrm>
            <a:off x="1703512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ASPECTOS GEOGRÁFICOS QUE INFLUENCIA MILITAR 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72F0644-C20B-275D-1E40-EA75DFF9324B}"/>
              </a:ext>
            </a:extLst>
          </p:cNvPr>
          <p:cNvSpPr txBox="1"/>
          <p:nvPr/>
        </p:nvSpPr>
        <p:spPr>
          <a:xfrm>
            <a:off x="870155" y="1095400"/>
            <a:ext cx="9985309" cy="1282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El suelo y subsuelo</a:t>
            </a:r>
          </a:p>
          <a:p>
            <a:pPr algn="just">
              <a:lnSpc>
                <a:spcPct val="150000"/>
              </a:lnSpc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Permite establecer la transitabilidad y la influencia en los movimientos, las operaciones, la logística y fortificaciones.</a:t>
            </a:r>
            <a:endParaRPr lang="es-BO" dirty="0">
              <a:solidFill>
                <a:srgbClr val="0070C0"/>
              </a:solidFill>
              <a:latin typeface="Bahnschrift SemiBold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A35EF53-4BA2-4463-CD11-51E299DCD071}"/>
              </a:ext>
            </a:extLst>
          </p:cNvPr>
          <p:cNvSpPr txBox="1"/>
          <p:nvPr/>
        </p:nvSpPr>
        <p:spPr>
          <a:xfrm>
            <a:off x="6636774" y="3197975"/>
            <a:ext cx="1799303" cy="1697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Rocosos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Pedregosos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Arenosos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Arcillosos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06DFD06-B01E-B87B-0A11-320263C4F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057" y="2608126"/>
            <a:ext cx="4829943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FA87C8D-D08D-C14C-670A-CD2F24F64A88}"/>
              </a:ext>
            </a:extLst>
          </p:cNvPr>
          <p:cNvSpPr txBox="1"/>
          <p:nvPr/>
        </p:nvSpPr>
        <p:spPr>
          <a:xfrm>
            <a:off x="6636774" y="2377867"/>
            <a:ext cx="3130345" cy="45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Clasificación de los suelos</a:t>
            </a:r>
          </a:p>
        </p:txBody>
      </p:sp>
    </p:spTree>
    <p:extLst>
      <p:ext uri="{BB962C8B-B14F-4D97-AF65-F5344CB8AC3E}">
        <p14:creationId xmlns:p14="http://schemas.microsoft.com/office/powerpoint/2010/main" val="2227090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50ABA-5D42-F596-F645-CD6471DA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a 3">
            <a:extLst>
              <a:ext uri="{FF2B5EF4-FFF2-40B4-BE49-F238E27FC236}">
                <a16:creationId xmlns:a16="http://schemas.microsoft.com/office/drawing/2014/main" id="{ED0A1A40-E2C9-667B-EB3C-6E1E5D5D58EF}"/>
              </a:ext>
            </a:extLst>
          </p:cNvPr>
          <p:cNvSpPr/>
          <p:nvPr/>
        </p:nvSpPr>
        <p:spPr>
          <a:xfrm>
            <a:off x="73572" y="44624"/>
            <a:ext cx="11887200" cy="720080"/>
          </a:xfrm>
          <a:prstGeom prst="plaque">
            <a:avLst/>
          </a:prstGeom>
          <a:solidFill>
            <a:srgbClr val="7030A0"/>
          </a:solidFill>
          <a:ln>
            <a:noFill/>
          </a:ln>
          <a:scene3d>
            <a:camera prst="obliqueBottomRight"/>
            <a:lightRig rig="threePt" dir="t"/>
          </a:scene3d>
          <a:sp3d extrusionH="2540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INFLUENCIA MILITAR DEL LITORAL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42F1BDB-FF19-1512-053F-8019CC9A3F4F}"/>
              </a:ext>
            </a:extLst>
          </p:cNvPr>
          <p:cNvSpPr txBox="1"/>
          <p:nvPr/>
        </p:nvSpPr>
        <p:spPr>
          <a:xfrm>
            <a:off x="669567" y="1214183"/>
            <a:ext cx="1127702" cy="49949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Litoral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3689301-F9DB-BC51-0699-ABBF17605F40}"/>
              </a:ext>
            </a:extLst>
          </p:cNvPr>
          <p:cNvSpPr txBox="1"/>
          <p:nvPr/>
        </p:nvSpPr>
        <p:spPr>
          <a:xfrm>
            <a:off x="669567" y="1713682"/>
            <a:ext cx="9620061" cy="1394094"/>
          </a:xfrm>
          <a:prstGeom prst="snip1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b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Área geográfica que se  encuentra en contacto entre la tierra y el mar, incluye el área de aguas poco profundas  en donde las olas pueden remover los sedimentos  y el área de tierra donde se ve influenciada  por el viento, oleaje, corrientes y mareas. 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4AEB653-6E53-A56F-57AE-98B627CED018}"/>
              </a:ext>
            </a:extLst>
          </p:cNvPr>
          <p:cNvSpPr txBox="1"/>
          <p:nvPr/>
        </p:nvSpPr>
        <p:spPr>
          <a:xfrm>
            <a:off x="961695" y="4046005"/>
            <a:ext cx="7667297" cy="1697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MX" b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Contempla playas, acantilados, puertos, cabos, bahías, e islas.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P</a:t>
            </a:r>
            <a:r>
              <a:rPr lang="es-MX" b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resenta amplia diversidad de ecosistemas muy  ricos, dinámicos 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Están </a:t>
            </a:r>
            <a:r>
              <a:rPr lang="es-MX" b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en constante cambio y evolución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Facilita o no el desarrollo comercial de los pueblos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88F4F95-CD8A-D769-0021-842C7F6BC393}"/>
              </a:ext>
            </a:extLst>
          </p:cNvPr>
          <p:cNvSpPr txBox="1"/>
          <p:nvPr/>
        </p:nvSpPr>
        <p:spPr>
          <a:xfrm>
            <a:off x="830317" y="3429000"/>
            <a:ext cx="1986455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Características</a:t>
            </a:r>
            <a:endParaRPr lang="es-BO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026" name="Picture 2" descr="2. Dinámica y modelado del litoral | GL2 - U4.T4: El relieve de la  superficie terrestre: Relieve estructural y litoral">
            <a:extLst>
              <a:ext uri="{FF2B5EF4-FFF2-40B4-BE49-F238E27FC236}">
                <a16:creationId xmlns:a16="http://schemas.microsoft.com/office/drawing/2014/main" id="{C67D5F23-50C5-0FB4-6D7A-12017676E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66" y="3429000"/>
            <a:ext cx="3174124" cy="2842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43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83D61-4F46-235E-433F-5E6997FAF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a 3">
            <a:extLst>
              <a:ext uri="{FF2B5EF4-FFF2-40B4-BE49-F238E27FC236}">
                <a16:creationId xmlns:a16="http://schemas.microsoft.com/office/drawing/2014/main" id="{BBCBD9A2-015B-A042-D95E-6C8C0603FFA2}"/>
              </a:ext>
            </a:extLst>
          </p:cNvPr>
          <p:cNvSpPr/>
          <p:nvPr/>
        </p:nvSpPr>
        <p:spPr>
          <a:xfrm>
            <a:off x="73572" y="44624"/>
            <a:ext cx="11887200" cy="720080"/>
          </a:xfrm>
          <a:prstGeom prst="plaque">
            <a:avLst/>
          </a:prstGeom>
          <a:solidFill>
            <a:srgbClr val="7030A0"/>
          </a:solidFill>
          <a:ln>
            <a:noFill/>
          </a:ln>
          <a:scene3d>
            <a:camera prst="obliqueBottomRight"/>
            <a:lightRig rig="threePt" dir="t"/>
          </a:scene3d>
          <a:sp3d extrusionH="254000">
            <a:extrusionClr>
              <a:schemeClr val="accent2">
                <a:lumMod val="50000"/>
              </a:schemeClr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INFLUENCIA MILITAR DEL LITORAL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5B0B15-686F-3ABD-15FA-90BE7F854FA9}"/>
              </a:ext>
            </a:extLst>
          </p:cNvPr>
          <p:cNvSpPr txBox="1"/>
          <p:nvPr/>
        </p:nvSpPr>
        <p:spPr>
          <a:xfrm>
            <a:off x="654920" y="1641828"/>
            <a:ext cx="7906276" cy="4177102"/>
          </a:xfrm>
          <a:prstGeom prst="round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Su importancia e influencia, radica en que es en este lugar, donde estarán ubicados los puertos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La existencia de una costa alta y otra baja marcara su relevancia con respecto a su uso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Como área de desembarco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Objetivo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Línea de comunicación</a:t>
            </a:r>
          </a:p>
          <a:p>
            <a:pPr marL="285750" indent="-28575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70C0"/>
                </a:solidFill>
                <a:latin typeface="Bahnschrift SemiBold" panose="020B0502040204020203" pitchFamily="34" charset="0"/>
              </a:rPr>
              <a:t>Zona de depósitos de abastecimientos para tropas que se internan al continente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C7E868D-5262-05C5-8AD3-7CBFAAA5E03E}"/>
              </a:ext>
            </a:extLst>
          </p:cNvPr>
          <p:cNvSpPr txBox="1"/>
          <p:nvPr/>
        </p:nvSpPr>
        <p:spPr>
          <a:xfrm>
            <a:off x="654920" y="977699"/>
            <a:ext cx="3317992" cy="45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s-ES" dirty="0">
                <a:solidFill>
                  <a:srgbClr val="FF0000"/>
                </a:solidFill>
                <a:latin typeface="Bahnschrift SemiBold" panose="020B0502040204020203" pitchFamily="34" charset="0"/>
              </a:rPr>
              <a:t>Estudio militar del Litoral</a:t>
            </a:r>
          </a:p>
        </p:txBody>
      </p:sp>
      <p:pic>
        <p:nvPicPr>
          <p:cNvPr id="2" name="Picture 2" descr="APUNTES JURIDICOS™: Causas Del Asalto Chileno A Territorio Boliviano">
            <a:extLst>
              <a:ext uri="{FF2B5EF4-FFF2-40B4-BE49-F238E27FC236}">
                <a16:creationId xmlns:a16="http://schemas.microsoft.com/office/drawing/2014/main" id="{13BF695B-5643-E351-781A-3C0BE1E95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694" y="1128712"/>
            <a:ext cx="3095625" cy="460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7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53A92-E35A-4296-A2AA-30EC5C313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1">
            <a:extLst>
              <a:ext uri="{FF2B5EF4-FFF2-40B4-BE49-F238E27FC236}">
                <a16:creationId xmlns:a16="http://schemas.microsoft.com/office/drawing/2014/main" id="{4BFFFF43-508F-8DCB-3936-B8D85608D09C}"/>
              </a:ext>
            </a:extLst>
          </p:cNvPr>
          <p:cNvSpPr/>
          <p:nvPr/>
        </p:nvSpPr>
        <p:spPr>
          <a:xfrm>
            <a:off x="1703512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INFLUENCIA MILITAR DE LA CUBIERTA O VEGETACIÓN 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1DA8E331-0B17-BCEC-EBDA-DD443ED9F860}"/>
              </a:ext>
            </a:extLst>
          </p:cNvPr>
          <p:cNvGrpSpPr/>
          <p:nvPr/>
        </p:nvGrpSpPr>
        <p:grpSpPr>
          <a:xfrm>
            <a:off x="715298" y="1793610"/>
            <a:ext cx="5619134" cy="4639656"/>
            <a:chOff x="850285" y="663861"/>
            <a:chExt cx="5619134" cy="4639656"/>
          </a:xfrm>
        </p:grpSpPr>
        <p:pic>
          <p:nvPicPr>
            <p:cNvPr id="6" name="Picture 2" descr="mapa conceptual con las características de las PRADERAS y ESTEPAS; BOSQUES;  SELVAS y BIOMAS FRÁGILES - Brainly.lat">
              <a:extLst>
                <a:ext uri="{FF2B5EF4-FFF2-40B4-BE49-F238E27FC236}">
                  <a16:creationId xmlns:a16="http://schemas.microsoft.com/office/drawing/2014/main" id="{F5776F9D-8821-A893-CB32-FBEB48557E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917" t="57112" r="2998" b="13957"/>
            <a:stretch/>
          </p:blipFill>
          <p:spPr bwMode="auto">
            <a:xfrm>
              <a:off x="850285" y="663861"/>
              <a:ext cx="1656941" cy="1811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mapa conceptual con las características de las PRADERAS y ESTEPAS; BOSQUES;  SELVAS y BIOMAS FRÁGILES - Brainly.lat">
              <a:extLst>
                <a:ext uri="{FF2B5EF4-FFF2-40B4-BE49-F238E27FC236}">
                  <a16:creationId xmlns:a16="http://schemas.microsoft.com/office/drawing/2014/main" id="{9F272DBD-AF78-DA5D-982D-C02A2BDC2E1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0" t="27858" r="74518" b="46548"/>
            <a:stretch/>
          </p:blipFill>
          <p:spPr bwMode="auto">
            <a:xfrm>
              <a:off x="2526787" y="710308"/>
              <a:ext cx="1750245" cy="1737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183DA49-EF9D-3EF6-1E7C-404635E16030}"/>
                </a:ext>
              </a:extLst>
            </p:cNvPr>
            <p:cNvSpPr txBox="1"/>
            <p:nvPr/>
          </p:nvSpPr>
          <p:spPr>
            <a:xfrm>
              <a:off x="1283109" y="2475300"/>
              <a:ext cx="958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Desierto</a:t>
              </a:r>
              <a:endParaRPr lang="es-BO" sz="1200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6291F179-3F75-5E7F-A9B1-D514B896B0BC}"/>
                </a:ext>
              </a:extLst>
            </p:cNvPr>
            <p:cNvSpPr txBox="1"/>
            <p:nvPr/>
          </p:nvSpPr>
          <p:spPr>
            <a:xfrm>
              <a:off x="2671763" y="2475298"/>
              <a:ext cx="958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Tundra</a:t>
              </a:r>
              <a:endParaRPr lang="es-BO" sz="1200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pic>
          <p:nvPicPr>
            <p:cNvPr id="11" name="Picture 2" descr="mapa conceptual con las características de las PRADERAS y ESTEPAS; BOSQUES;  SELVAS y BIOMAS FRÁGILES - Brainly.lat">
              <a:extLst>
                <a:ext uri="{FF2B5EF4-FFF2-40B4-BE49-F238E27FC236}">
                  <a16:creationId xmlns:a16="http://schemas.microsoft.com/office/drawing/2014/main" id="{67E10F84-6613-DB2E-9999-5ECC4D53B92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933" t="25325" r="26421" b="45822"/>
            <a:stretch/>
          </p:blipFill>
          <p:spPr bwMode="auto">
            <a:xfrm>
              <a:off x="4409770" y="691192"/>
              <a:ext cx="2059649" cy="1737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7A055831-05DC-CE88-626E-258FCBB0E382}"/>
                </a:ext>
              </a:extLst>
            </p:cNvPr>
            <p:cNvSpPr txBox="1"/>
            <p:nvPr/>
          </p:nvSpPr>
          <p:spPr>
            <a:xfrm>
              <a:off x="4262285" y="2447421"/>
              <a:ext cx="16569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Pradera y estepa</a:t>
              </a:r>
              <a:endParaRPr lang="es-BO" sz="1200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pic>
          <p:nvPicPr>
            <p:cNvPr id="13" name="Picture 2" descr="mapa conceptual con las características de las PRADERAS y ESTEPAS; BOSQUES;  SELVAS y BIOMAS FRÁGILES - Brainly.lat">
              <a:extLst>
                <a:ext uri="{FF2B5EF4-FFF2-40B4-BE49-F238E27FC236}">
                  <a16:creationId xmlns:a16="http://schemas.microsoft.com/office/drawing/2014/main" id="{2DA7C3F9-2A8F-E208-EAB2-6749062A6E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209" t="58763" r="26463" b="15962"/>
            <a:stretch/>
          </p:blipFill>
          <p:spPr bwMode="auto">
            <a:xfrm>
              <a:off x="865032" y="3118023"/>
              <a:ext cx="1676503" cy="1737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E2ACCEBD-E09D-D407-2500-BE7B7DCF5AD6}"/>
                </a:ext>
              </a:extLst>
            </p:cNvPr>
            <p:cNvSpPr txBox="1"/>
            <p:nvPr/>
          </p:nvSpPr>
          <p:spPr>
            <a:xfrm>
              <a:off x="1283108" y="4943861"/>
              <a:ext cx="958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sabana</a:t>
              </a:r>
              <a:endParaRPr lang="es-BO" sz="1200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pic>
          <p:nvPicPr>
            <p:cNvPr id="15" name="Picture 2" descr="mapa conceptual con las características de las PRADERAS y ESTEPAS; BOSQUES;  SELVAS y BIOMAS FRÁGILES - Brainly.lat">
              <a:extLst>
                <a:ext uri="{FF2B5EF4-FFF2-40B4-BE49-F238E27FC236}">
                  <a16:creationId xmlns:a16="http://schemas.microsoft.com/office/drawing/2014/main" id="{ABE34FE4-6CB1-F73C-7F2C-17FBA88992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56" t="60342" r="74517" b="15157"/>
            <a:stretch/>
          </p:blipFill>
          <p:spPr bwMode="auto">
            <a:xfrm>
              <a:off x="2615277" y="3099093"/>
              <a:ext cx="1676503" cy="1737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88EC71B6-9A16-58DF-22C1-A541B3111636}"/>
                </a:ext>
              </a:extLst>
            </p:cNvPr>
            <p:cNvSpPr txBox="1"/>
            <p:nvPr/>
          </p:nvSpPr>
          <p:spPr>
            <a:xfrm>
              <a:off x="3812457" y="5026518"/>
              <a:ext cx="958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>
                  <a:solidFill>
                    <a:srgbClr val="0070C0"/>
                  </a:solidFill>
                  <a:latin typeface="Bahnschrift SemiBold" panose="020B0502040204020203" pitchFamily="34" charset="0"/>
                </a:rPr>
                <a:t>Selva</a:t>
              </a:r>
              <a:endParaRPr lang="es-BO" sz="1200" dirty="0">
                <a:solidFill>
                  <a:srgbClr val="0070C0"/>
                </a:solidFill>
                <a:latin typeface="Bahnschrift SemiBold" panose="020B0502040204020203" pitchFamily="34" charset="0"/>
              </a:endParaRPr>
            </a:p>
          </p:txBody>
        </p:sp>
        <p:pic>
          <p:nvPicPr>
            <p:cNvPr id="17" name="Picture 4" descr="El Chaco y sus Ambientes">
              <a:extLst>
                <a:ext uri="{FF2B5EF4-FFF2-40B4-BE49-F238E27FC236}">
                  <a16:creationId xmlns:a16="http://schemas.microsoft.com/office/drawing/2014/main" id="{D3101A7B-0D05-DAB9-AB2D-FEEF952A9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7032" y="3122580"/>
              <a:ext cx="1794179" cy="1724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C076F32-04E2-5B6E-102E-B53C81663F36}"/>
              </a:ext>
            </a:extLst>
          </p:cNvPr>
          <p:cNvSpPr txBox="1"/>
          <p:nvPr/>
        </p:nvSpPr>
        <p:spPr>
          <a:xfrm>
            <a:off x="6680914" y="902640"/>
            <a:ext cx="4631097" cy="1017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Desierto:</a:t>
            </a:r>
          </a:p>
          <a:p>
            <a:pPr algn="just">
              <a:lnSpc>
                <a:spcPct val="150000"/>
              </a:lnSpc>
            </a:pPr>
            <a:r>
              <a:rPr lang="es-ES" sz="1400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Con bajas precipitaciones, clima seco, temperaturas extremas y suelo árido, que puede ser cálido o helado. </a:t>
            </a:r>
            <a:endParaRPr lang="es-BO" sz="1400" dirty="0">
              <a:solidFill>
                <a:srgbClr val="0070C0"/>
              </a:solidFill>
              <a:latin typeface="Bahnschrift SemiBold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53C5D50-2609-E646-6DD8-4ABB0238CAB3}"/>
              </a:ext>
            </a:extLst>
          </p:cNvPr>
          <p:cNvSpPr txBox="1"/>
          <p:nvPr/>
        </p:nvSpPr>
        <p:spPr>
          <a:xfrm>
            <a:off x="6680913" y="2058547"/>
            <a:ext cx="4631097" cy="1017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Tundra</a:t>
            </a:r>
          </a:p>
          <a:p>
            <a:pPr algn="just">
              <a:lnSpc>
                <a:spcPct val="150000"/>
              </a:lnSpc>
            </a:pPr>
            <a:r>
              <a:rPr lang="es-ES" sz="1400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De clima frio, subsuelo helado y vegetación baja, sin árboles. Se encuentra en regiones polares. </a:t>
            </a:r>
            <a:endParaRPr lang="es-BO" sz="1400" dirty="0">
              <a:solidFill>
                <a:srgbClr val="0070C0"/>
              </a:solidFill>
              <a:latin typeface="Bahnschrift SemiBold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F1B4366-1883-B4D5-5F61-FCCC30B224C7}"/>
              </a:ext>
            </a:extLst>
          </p:cNvPr>
          <p:cNvSpPr txBox="1"/>
          <p:nvPr/>
        </p:nvSpPr>
        <p:spPr>
          <a:xfrm>
            <a:off x="6680912" y="3115505"/>
            <a:ext cx="46310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Las praderas </a:t>
            </a:r>
          </a:p>
          <a:p>
            <a:r>
              <a:rPr lang="es-ES" sz="14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Grandes extensiones de terreno con hierbas y pastos, con pocos árboles o arbustos</a:t>
            </a:r>
            <a:endParaRPr lang="es-BO" sz="14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8F3D604-844F-4A6B-AD59-4498E4D78D3A}"/>
              </a:ext>
            </a:extLst>
          </p:cNvPr>
          <p:cNvSpPr txBox="1"/>
          <p:nvPr/>
        </p:nvSpPr>
        <p:spPr>
          <a:xfrm>
            <a:off x="6560264" y="3873594"/>
            <a:ext cx="448361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Estepa</a:t>
            </a:r>
          </a:p>
          <a:p>
            <a:pPr algn="just"/>
            <a:r>
              <a:rPr lang="es-ES" sz="1400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pastizales, generalmente llano, caracterizado por vegetación herbácea y sin grandes bosques, </a:t>
            </a:r>
            <a:endParaRPr lang="es-BO" sz="14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C0A15B0-7C32-AA2B-C5D0-042978C8F464}"/>
              </a:ext>
            </a:extLst>
          </p:cNvPr>
          <p:cNvSpPr txBox="1"/>
          <p:nvPr/>
        </p:nvSpPr>
        <p:spPr>
          <a:xfrm>
            <a:off x="6560264" y="4688655"/>
            <a:ext cx="46310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400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Sabana</a:t>
            </a:r>
          </a:p>
          <a:p>
            <a:pPr algn="just"/>
            <a:r>
              <a:rPr lang="es-ES" sz="1400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llanura extensa con árboles, arbustos de manera dispersa o en pequeños grupos</a:t>
            </a:r>
            <a:endParaRPr lang="es-BO" sz="14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3C42C4F-DB6C-15B5-3B15-39CE584B80F0}"/>
              </a:ext>
            </a:extLst>
          </p:cNvPr>
          <p:cNvSpPr txBox="1"/>
          <p:nvPr/>
        </p:nvSpPr>
        <p:spPr>
          <a:xfrm>
            <a:off x="6680912" y="5473446"/>
            <a:ext cx="47810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rgbClr val="FF0000"/>
                </a:solidFill>
                <a:latin typeface="Bahnschrift SemiBold" panose="020B0502040204020203" pitchFamily="34" charset="0"/>
              </a:rPr>
              <a:t>Selva</a:t>
            </a:r>
          </a:p>
          <a:p>
            <a:pPr algn="just"/>
            <a:r>
              <a:rPr lang="es-MX" sz="14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caracterizados por sus densa vegetación de arbusto y arboles de una alta variedad de especies y por poseer un clima húmedo y calidad </a:t>
            </a:r>
            <a:endParaRPr lang="es-BO" sz="1400" dirty="0">
              <a:solidFill>
                <a:srgbClr val="0070C0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333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a 2">
            <a:extLst>
              <a:ext uri="{FF2B5EF4-FFF2-40B4-BE49-F238E27FC236}">
                <a16:creationId xmlns:a16="http://schemas.microsoft.com/office/drawing/2014/main" id="{97B6B1E5-59BF-4673-9C69-2D1AAD410804}"/>
              </a:ext>
            </a:extLst>
          </p:cNvPr>
          <p:cNvSpPr/>
          <p:nvPr/>
        </p:nvSpPr>
        <p:spPr>
          <a:xfrm>
            <a:off x="110531" y="44624"/>
            <a:ext cx="11816861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INFLUENCIA MILITAR DE LA CUBIERTA O VEGETACIÓN 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908E99-43D5-9334-367E-68A3A729F2EA}"/>
              </a:ext>
            </a:extLst>
          </p:cNvPr>
          <p:cNvSpPr txBox="1"/>
          <p:nvPr/>
        </p:nvSpPr>
        <p:spPr>
          <a:xfrm>
            <a:off x="994787" y="1085222"/>
            <a:ext cx="3928905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  <a:latin typeface="Bahnschrift SemiBold" panose="020B0502040204020203" pitchFamily="34" charset="0"/>
              </a:rPr>
              <a:t>Características que ofrece la selva</a:t>
            </a:r>
            <a:endParaRPr lang="es-BO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BF55C6-7580-41F3-74CA-C2DA570F026A}"/>
              </a:ext>
            </a:extLst>
          </p:cNvPr>
          <p:cNvSpPr txBox="1"/>
          <p:nvPr/>
        </p:nvSpPr>
        <p:spPr>
          <a:xfrm>
            <a:off x="894304" y="1533912"/>
            <a:ext cx="5201696" cy="1282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Protección contra la observación y el fuego</a:t>
            </a:r>
          </a:p>
          <a:p>
            <a:pPr>
              <a:lnSpc>
                <a:spcPct val="150000"/>
              </a:lnSpc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Favorece Def., las emboscadas, golpes de mano</a:t>
            </a:r>
          </a:p>
          <a:p>
            <a:pPr>
              <a:lnSpc>
                <a:spcPct val="150000"/>
              </a:lnSpc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Enmascaramiento, mimetismo y camuflaje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0AF330D-0836-24E7-8FC9-7DB49A8CD6AF}"/>
              </a:ext>
            </a:extLst>
          </p:cNvPr>
          <p:cNvSpPr txBox="1"/>
          <p:nvPr/>
        </p:nvSpPr>
        <p:spPr>
          <a:xfrm>
            <a:off x="7151079" y="3587459"/>
            <a:ext cx="265946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  <a:latin typeface="Bahnschrift SemiBold" panose="020B0502040204020203" pitchFamily="34" charset="0"/>
              </a:rPr>
              <a:t>Estudio del desierto</a:t>
            </a:r>
            <a:endParaRPr lang="es-BO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5E57BB-89A0-2A3E-F3C1-81795669B40B}"/>
              </a:ext>
            </a:extLst>
          </p:cNvPr>
          <p:cNvSpPr txBox="1"/>
          <p:nvPr/>
        </p:nvSpPr>
        <p:spPr>
          <a:xfrm>
            <a:off x="7050595" y="4036149"/>
            <a:ext cx="4407875" cy="1697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Para la ofensiva es un obstáculo (falta de agua, DD. AA. recursos locales)</a:t>
            </a:r>
          </a:p>
          <a:p>
            <a:pPr>
              <a:lnSpc>
                <a:spcPct val="150000"/>
              </a:lnSpc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Empleo de grandes efectivos restringido por consideraciones Log.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CE6BA5F-5500-2D5D-EA1A-C7F5E33BB5B2}"/>
              </a:ext>
            </a:extLst>
          </p:cNvPr>
          <p:cNvSpPr txBox="1"/>
          <p:nvPr/>
        </p:nvSpPr>
        <p:spPr>
          <a:xfrm>
            <a:off x="793820" y="3672290"/>
            <a:ext cx="3928905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  <a:latin typeface="Bahnschrift SemiBold" panose="020B0502040204020203" pitchFamily="34" charset="0"/>
              </a:rPr>
              <a:t>Estudio del matorral</a:t>
            </a:r>
            <a:endParaRPr lang="es-BO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1B4E76-5FE7-DB68-8B1D-6A4D087B4587}"/>
              </a:ext>
            </a:extLst>
          </p:cNvPr>
          <p:cNvSpPr txBox="1"/>
          <p:nvPr/>
        </p:nvSpPr>
        <p:spPr>
          <a:xfrm>
            <a:off x="693337" y="4120980"/>
            <a:ext cx="4230355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Facilidades para el enmascaramiento </a:t>
            </a:r>
          </a:p>
          <a:p>
            <a:pPr>
              <a:lnSpc>
                <a:spcPct val="150000"/>
              </a:lnSpc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Apto para estacionamientos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C7C1563-FFC9-8A15-AC88-FD149A03D73B}"/>
              </a:ext>
            </a:extLst>
          </p:cNvPr>
          <p:cNvSpPr txBox="1"/>
          <p:nvPr/>
        </p:nvSpPr>
        <p:spPr>
          <a:xfrm>
            <a:off x="7151078" y="1201702"/>
            <a:ext cx="3928905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C00000"/>
                </a:solidFill>
                <a:latin typeface="Bahnschrift SemiBold" panose="020B0502040204020203" pitchFamily="34" charset="0"/>
              </a:rPr>
              <a:t>Estudio de las estepas y praderas</a:t>
            </a:r>
            <a:endParaRPr lang="es-BO" dirty="0">
              <a:solidFill>
                <a:srgbClr val="C00000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7044061-DE85-06A9-48D4-26884182EBED}"/>
              </a:ext>
            </a:extLst>
          </p:cNvPr>
          <p:cNvSpPr txBox="1"/>
          <p:nvPr/>
        </p:nvSpPr>
        <p:spPr>
          <a:xfrm>
            <a:off x="7050595" y="1650392"/>
            <a:ext cx="4933740" cy="866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Facilidades para el movimiento</a:t>
            </a:r>
          </a:p>
          <a:p>
            <a:pPr>
              <a:lnSpc>
                <a:spcPct val="150000"/>
              </a:lnSpc>
            </a:pPr>
            <a:r>
              <a:rPr lang="es-MX" dirty="0">
                <a:solidFill>
                  <a:srgbClr val="0070C0"/>
                </a:solidFill>
                <a:latin typeface="Bahnschrift SemiBold" panose="020B0502040204020203" pitchFamily="34" charset="0"/>
              </a:rPr>
              <a:t>Aptas para armas de trayectoria rasante</a:t>
            </a:r>
          </a:p>
        </p:txBody>
      </p:sp>
    </p:spTree>
    <p:extLst>
      <p:ext uri="{BB962C8B-B14F-4D97-AF65-F5344CB8AC3E}">
        <p14:creationId xmlns:p14="http://schemas.microsoft.com/office/powerpoint/2010/main" val="3436808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43687-49A4-C68A-BD06-780B55F10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1">
            <a:extLst>
              <a:ext uri="{FF2B5EF4-FFF2-40B4-BE49-F238E27FC236}">
                <a16:creationId xmlns:a16="http://schemas.microsoft.com/office/drawing/2014/main" id="{50D5DB5F-076B-5FC6-620A-55C7BC8EBDA1}"/>
              </a:ext>
            </a:extLst>
          </p:cNvPr>
          <p:cNvSpPr/>
          <p:nvPr/>
        </p:nvSpPr>
        <p:spPr>
          <a:xfrm>
            <a:off x="1703512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ASPECTOS GEOGRÁFICOS QUE INFLUENCIA MILITAR 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963578-A8E0-B207-0CE5-E2172E63E1D0}"/>
              </a:ext>
            </a:extLst>
          </p:cNvPr>
          <p:cNvSpPr txBox="1"/>
          <p:nvPr/>
        </p:nvSpPr>
        <p:spPr>
          <a:xfrm>
            <a:off x="306029" y="822220"/>
            <a:ext cx="1581764" cy="45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Hidrografía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808017F-8FF0-B758-F28A-F4099A98B306}"/>
              </a:ext>
            </a:extLst>
          </p:cNvPr>
          <p:cNvSpPr txBox="1"/>
          <p:nvPr/>
        </p:nvSpPr>
        <p:spPr>
          <a:xfrm>
            <a:off x="6702025" y="1631760"/>
            <a:ext cx="4778580" cy="1017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Ríos:</a:t>
            </a:r>
          </a:p>
          <a:p>
            <a:pPr algn="just">
              <a:lnSpc>
                <a:spcPct val="150000"/>
              </a:lnSpc>
            </a:pPr>
            <a:r>
              <a:rPr lang="es-ES" sz="1400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Los ríos influyen en función a su ubicación, longitud, ancho. profundidad, volumen de aguas</a:t>
            </a:r>
            <a:endParaRPr lang="es-BO" sz="1400" dirty="0">
              <a:solidFill>
                <a:srgbClr val="0070C0"/>
              </a:solidFill>
              <a:latin typeface="Bahnschrift SemiBold" panose="020B0502040204020203" pitchFamily="34" charset="0"/>
              <a:ea typeface="Times New Roman" panose="02020603050405020304" pitchFamily="18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20387FE-25DF-A594-9B8D-20A7C09270BC}"/>
              </a:ext>
            </a:extLst>
          </p:cNvPr>
          <p:cNvSpPr txBox="1"/>
          <p:nvPr/>
        </p:nvSpPr>
        <p:spPr>
          <a:xfrm>
            <a:off x="6702024" y="2821981"/>
            <a:ext cx="4631097" cy="694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Lagos</a:t>
            </a:r>
          </a:p>
          <a:p>
            <a:pPr algn="just">
              <a:lnSpc>
                <a:spcPct val="150000"/>
              </a:lnSpc>
            </a:pPr>
            <a:r>
              <a:rPr lang="es-ES" sz="1400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Es un obstáculo cuando corta la línea de operaciones</a:t>
            </a:r>
            <a:endParaRPr lang="es-BO" sz="1400" dirty="0">
              <a:solidFill>
                <a:srgbClr val="0070C0"/>
              </a:solidFill>
              <a:latin typeface="Bahnschrift SemiBold" panose="020B0502040204020203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Picture 2" descr="Aguas continentales de México y el mundo | Diapositivas de Geografía |  Docsity">
            <a:extLst>
              <a:ext uri="{FF2B5EF4-FFF2-40B4-BE49-F238E27FC236}">
                <a16:creationId xmlns:a16="http://schemas.microsoft.com/office/drawing/2014/main" id="{B2BC1788-246A-5C5D-B483-A5E7EF8A7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11" y="1617011"/>
            <a:ext cx="5828044" cy="391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9F8AE4C-194A-99E4-2EB9-0BA1660461C6}"/>
              </a:ext>
            </a:extLst>
          </p:cNvPr>
          <p:cNvSpPr txBox="1"/>
          <p:nvPr/>
        </p:nvSpPr>
        <p:spPr>
          <a:xfrm>
            <a:off x="7277211" y="918802"/>
            <a:ext cx="2264996" cy="45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Aguas continentales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1556C5B-1DCD-68AB-AD4F-BDA48A246082}"/>
              </a:ext>
            </a:extLst>
          </p:cNvPr>
          <p:cNvSpPr txBox="1"/>
          <p:nvPr/>
        </p:nvSpPr>
        <p:spPr>
          <a:xfrm>
            <a:off x="6702024" y="3860867"/>
            <a:ext cx="4631097" cy="199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Otros</a:t>
            </a:r>
          </a:p>
          <a:p>
            <a:pPr algn="just">
              <a:lnSpc>
                <a:spcPct val="150000"/>
              </a:lnSpc>
            </a:pPr>
            <a:r>
              <a:rPr lang="es-ES" sz="1400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Los pantanos: </a:t>
            </a:r>
            <a:r>
              <a:rPr lang="es-ES" sz="1400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agua estancada y poco profunda, con abundante vegetación acuática</a:t>
            </a:r>
          </a:p>
          <a:p>
            <a:pPr algn="just">
              <a:lnSpc>
                <a:spcPct val="150000"/>
              </a:lnSpc>
            </a:pPr>
            <a:r>
              <a:rPr lang="es-ES" sz="1400" dirty="0">
                <a:solidFill>
                  <a:srgbClr val="FF000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Bofedales</a:t>
            </a:r>
            <a:r>
              <a:rPr lang="es-ES" sz="1400" dirty="0">
                <a:solidFill>
                  <a:srgbClr val="0070C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: Ubicadas en tierras altas</a:t>
            </a:r>
          </a:p>
          <a:p>
            <a:pPr algn="just">
              <a:lnSpc>
                <a:spcPct val="150000"/>
              </a:lnSpc>
            </a:pPr>
            <a:r>
              <a:rPr lang="es-ES" sz="1400" dirty="0">
                <a:solidFill>
                  <a:srgbClr val="FF0000"/>
                </a:solidFill>
                <a:latin typeface="Bahnschrift SemiBold" panose="020B0502040204020203" pitchFamily="34" charset="0"/>
                <a:ea typeface="Times New Roman" panose="02020603050405020304" pitchFamily="18" charset="0"/>
              </a:rPr>
              <a:t>Salares: </a:t>
            </a:r>
            <a:r>
              <a:rPr lang="es-ES" sz="14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gran extensión plana de tierra cubierta de sal y otros minerales</a:t>
            </a:r>
            <a:r>
              <a:rPr lang="es-ES" sz="1400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, </a:t>
            </a:r>
            <a:endParaRPr lang="es-BO" sz="1400" dirty="0">
              <a:solidFill>
                <a:srgbClr val="0070C0"/>
              </a:solidFill>
              <a:latin typeface="Bahnschrift SemiBold" panose="020B0502040204020203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378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céanos. Estudio revela sus puntos más profundos- Grupo Milenio">
            <a:extLst>
              <a:ext uri="{FF2B5EF4-FFF2-40B4-BE49-F238E27FC236}">
                <a16:creationId xmlns:a16="http://schemas.microsoft.com/office/drawing/2014/main" id="{FA72B5B9-712B-D418-D196-1CC5408DC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48" y="1711475"/>
            <a:ext cx="5512057" cy="343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Placa 1">
            <a:extLst>
              <a:ext uri="{FF2B5EF4-FFF2-40B4-BE49-F238E27FC236}">
                <a16:creationId xmlns:a16="http://schemas.microsoft.com/office/drawing/2014/main" id="{0F055EEC-7E22-B567-4413-7D2C30220011}"/>
              </a:ext>
            </a:extLst>
          </p:cNvPr>
          <p:cNvSpPr/>
          <p:nvPr/>
        </p:nvSpPr>
        <p:spPr>
          <a:xfrm>
            <a:off x="1703512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ASPECTOS GEOGRÁFICOS QUE INFLUENCIA MILITAR 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40087F-BCE0-A7F3-5B50-52F99CDC36FB}"/>
              </a:ext>
            </a:extLst>
          </p:cNvPr>
          <p:cNvSpPr txBox="1"/>
          <p:nvPr/>
        </p:nvSpPr>
        <p:spPr>
          <a:xfrm>
            <a:off x="306029" y="822220"/>
            <a:ext cx="1581764" cy="45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Hidrografía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C80C77-007D-704B-E993-53DABFC8904E}"/>
              </a:ext>
            </a:extLst>
          </p:cNvPr>
          <p:cNvSpPr txBox="1"/>
          <p:nvPr/>
        </p:nvSpPr>
        <p:spPr>
          <a:xfrm>
            <a:off x="7277211" y="918802"/>
            <a:ext cx="2264996" cy="45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Aguas marítimas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C7F92B4-7840-EC41-8C4F-0E016D2D5E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80" t="31174" r="43508" b="22352"/>
          <a:stretch/>
        </p:blipFill>
        <p:spPr>
          <a:xfrm>
            <a:off x="6207996" y="1524370"/>
            <a:ext cx="5045023" cy="318565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A395788-BA2F-18EF-DD1B-955A061F7E1E}"/>
              </a:ext>
            </a:extLst>
          </p:cNvPr>
          <p:cNvSpPr txBox="1"/>
          <p:nvPr/>
        </p:nvSpPr>
        <p:spPr>
          <a:xfrm>
            <a:off x="6465510" y="5018218"/>
            <a:ext cx="4627869" cy="780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Movimientos de la superficie del mar producido por el viento más</a:t>
            </a:r>
          </a:p>
        </p:txBody>
      </p:sp>
    </p:spTree>
    <p:extLst>
      <p:ext uri="{BB962C8B-B14F-4D97-AF65-F5344CB8AC3E}">
        <p14:creationId xmlns:p14="http://schemas.microsoft.com/office/powerpoint/2010/main" val="3667788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2B460-E5B5-A738-C132-6E605BEA2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1">
            <a:extLst>
              <a:ext uri="{FF2B5EF4-FFF2-40B4-BE49-F238E27FC236}">
                <a16:creationId xmlns:a16="http://schemas.microsoft.com/office/drawing/2014/main" id="{823F78D8-28E7-8B9C-4D67-2640691FCF7E}"/>
              </a:ext>
            </a:extLst>
          </p:cNvPr>
          <p:cNvSpPr/>
          <p:nvPr/>
        </p:nvSpPr>
        <p:spPr>
          <a:xfrm>
            <a:off x="1703512" y="44624"/>
            <a:ext cx="8856984" cy="720080"/>
          </a:xfrm>
          <a:prstGeom prst="plaqu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ASPECTOS GEOGRÁFICOS QUE INFLUENCIA MILITAR </a:t>
            </a:r>
            <a:endParaRPr lang="es-BO" sz="2400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28834E6-CED8-4C77-AA35-9753C0135FF7}"/>
              </a:ext>
            </a:extLst>
          </p:cNvPr>
          <p:cNvSpPr txBox="1"/>
          <p:nvPr/>
        </p:nvSpPr>
        <p:spPr>
          <a:xfrm>
            <a:off x="306029" y="822220"/>
            <a:ext cx="1581764" cy="45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Hidrografía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FCFF3B4-1742-9D2B-B13B-A8820F3A2732}"/>
              </a:ext>
            </a:extLst>
          </p:cNvPr>
          <p:cNvSpPr txBox="1"/>
          <p:nvPr/>
        </p:nvSpPr>
        <p:spPr>
          <a:xfrm>
            <a:off x="7277211" y="918802"/>
            <a:ext cx="2264996" cy="45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b="0" i="0" dirty="0">
                <a:solidFill>
                  <a:srgbClr val="FF0000"/>
                </a:solidFill>
                <a:effectLst/>
                <a:latin typeface="Bahnschrift SemiBold" panose="020B0502040204020203" pitchFamily="34" charset="0"/>
              </a:rPr>
              <a:t>Aguas marítimas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030E2E9-73AD-F9B5-3499-20B3FA55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80" t="31174" r="43508" b="22352"/>
          <a:stretch/>
        </p:blipFill>
        <p:spPr>
          <a:xfrm>
            <a:off x="390254" y="1370272"/>
            <a:ext cx="10592593" cy="318565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72F16F9-FE88-9A2E-06D0-0B8D302926BB}"/>
              </a:ext>
            </a:extLst>
          </p:cNvPr>
          <p:cNvSpPr txBox="1"/>
          <p:nvPr/>
        </p:nvSpPr>
        <p:spPr>
          <a:xfrm>
            <a:off x="571014" y="4652506"/>
            <a:ext cx="2865522" cy="1150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Movimientos de la superficie del mar producido por el viento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C7D0C14-E325-F67E-F923-2B3628C61EDF}"/>
              </a:ext>
            </a:extLst>
          </p:cNvPr>
          <p:cNvSpPr txBox="1"/>
          <p:nvPr/>
        </p:nvSpPr>
        <p:spPr>
          <a:xfrm>
            <a:off x="3688568" y="4652506"/>
            <a:ext cx="3190870" cy="1150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Movimientos de subida y bajada del nivel del mar que se repiten regularmente (altas y bajas)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CD4E9F0-9B2F-D8E8-3017-CA1E2E66F809}"/>
              </a:ext>
            </a:extLst>
          </p:cNvPr>
          <p:cNvSpPr txBox="1"/>
          <p:nvPr/>
        </p:nvSpPr>
        <p:spPr>
          <a:xfrm>
            <a:off x="7596554" y="4652506"/>
            <a:ext cx="3190870" cy="1150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600" b="0" i="0" dirty="0">
                <a:solidFill>
                  <a:srgbClr val="0070C0"/>
                </a:solidFill>
                <a:effectLst/>
                <a:latin typeface="Bahnschrift SemiBold" panose="020B0502040204020203" pitchFamily="34" charset="0"/>
              </a:rPr>
              <a:t>Desplazamientos de grandes masas de agua dentro el mar (cálidas y frías</a:t>
            </a:r>
            <a:r>
              <a:rPr lang="es-ES" sz="1600" dirty="0">
                <a:solidFill>
                  <a:srgbClr val="0070C0"/>
                </a:solidFill>
                <a:latin typeface="Bahnschrift SemiBold" panose="020B0502040204020203" pitchFamily="34" charset="0"/>
              </a:rPr>
              <a:t>)</a:t>
            </a:r>
            <a:endParaRPr lang="es-ES" sz="1600" b="0" i="0" dirty="0">
              <a:solidFill>
                <a:srgbClr val="0070C0"/>
              </a:solidFill>
              <a:effectLst/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237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728</Words>
  <Application>Microsoft Office PowerPoint</Application>
  <PresentationFormat>Panorámica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Arial</vt:lpstr>
      <vt:lpstr>Bahnschrift SemiBold</vt:lpstr>
      <vt:lpstr>Calibri</vt:lpstr>
      <vt:lpstr>Calibri Light</vt:lpstr>
      <vt:lpstr>Google Sans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11</cp:revision>
  <dcterms:created xsi:type="dcterms:W3CDTF">2025-04-02T23:41:27Z</dcterms:created>
  <dcterms:modified xsi:type="dcterms:W3CDTF">2026-07-23T04:22:30Z</dcterms:modified>
</cp:coreProperties>
</file>