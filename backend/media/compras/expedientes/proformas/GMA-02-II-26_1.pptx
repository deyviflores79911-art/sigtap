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284" r:id="rId3"/>
    <p:sldId id="278" r:id="rId4"/>
    <p:sldId id="279" r:id="rId5"/>
    <p:sldId id="320" r:id="rId6"/>
    <p:sldId id="280" r:id="rId7"/>
    <p:sldId id="322" r:id="rId8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64F83-7D87-81D5-3117-B88158E06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47E12F-B080-B79F-2D7E-5DEAA3199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538851-4B8B-550E-DB3D-20235878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250D4-8BD2-A9C7-DED5-11AF0B25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EF400-1F85-F45E-448C-2B3841FB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8759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CD3D-03F3-0CD2-1DAB-4A3D20CB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8F16E6-D325-1D34-D190-19FE1BBE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DA4D1-C715-5F5D-9084-FFEF388D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152BF-B14E-94BB-7A4F-6F07CDD5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8084CC-E4E4-CB4F-EDDF-67897CE4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502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09A40-F618-2F94-979D-B48FACC4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B09C0C-8C7E-3345-395D-11D03A304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38BC7-1850-B305-24FE-72740A1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028588-F80F-B954-5956-5F1D2E7F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9530B2-A697-A51D-391A-F2192BFC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85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16AC4-A043-D0A3-553E-D075802C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B68E3-AAAD-74B2-CAFC-7101FBC49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DABE65-BD02-4B89-0E21-BA7C45E91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A3E0A2-2B76-390D-7714-7B457D60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304F5-D554-2043-B627-16927A4B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A8A0CE-4C30-C107-1AB9-5DBA2D96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6291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2D3CE-6EBC-6D8E-2543-BDBC7CCB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2DC13-DEDB-FDED-55C6-C9B10FF92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E98D8A-96A7-F69B-C5EA-A2E0096B4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A37A2D8-FDDE-1842-0995-FDE85455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B9AC95-7EB7-106C-2BD7-48C6F6D7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79DB76-F0A5-C631-34D4-C8024B61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7307DE-B4ED-E3D6-BC7E-5BAECCDB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599198-03BD-C82F-B6CA-8216418A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1055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39BE9-E9F8-22C6-60FF-6BD43783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988D4C-1BB9-5C91-9E66-E88ADEEC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778453-6EDA-DD2E-D922-E0F571A6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2C0262-29AB-D59D-3751-27EDDDBE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8983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E37F15-DC5C-F88B-4C41-902E28D4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B9318C-777E-2E2C-55CB-5524DD87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32CD82-DE2B-E806-8457-123663E4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1551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F34B2-4398-1702-8277-3951F24C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07D7EC-71D5-F71F-A163-76319A694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EAF76-0BE7-5098-D2EC-AFF5520FA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000077-16AA-6E73-447B-AEF37D9F5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77D7A3-840B-6BED-9B25-2828B1D7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142AAA-DD27-592C-4B1C-F8FA9234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480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EAF5-59FC-3C18-3CEE-C5C8B579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1519E5-5B63-DF45-76ED-9B65E1C08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F7BF2F-9733-7FAD-7979-91EE4D44E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1DE837-6127-AB6F-AACC-BB0AF38B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C13AA3-8E86-BD04-88DD-48323A55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64CC10-962C-0DB3-45C8-9A28EB37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906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CD3EA-A512-E4ED-DC9F-7B17821B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89B7BC-4F40-E303-DE99-1C4C0E4A3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85F5F5-8750-9FA8-B27F-7D919058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A6163-4BFF-A34E-7727-A753B420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24323B-48AE-B176-E154-19BCF514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3121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E98675-54B6-A787-1C67-9C5553A20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5AC1E6-F1FE-E15B-8D22-6B5B8700E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F6828-2B5B-E261-4854-B716B4DE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544A51-A6FC-6EF1-BC4F-47A8915F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1E5D47-94F3-AD44-2C03-92A5EA65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6702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20D5EC-C9F4-D934-95DC-60BE1DA2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9E6D35-E14C-C8C0-8B4B-089686D24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33B9D-3F44-1BAE-516F-E06CDF13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DAF74-5661-4708-A28B-0492C1ED624B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13FD2C-18C6-64EA-8757-D93288D6F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6B1A15-D08B-EDDC-81D5-3A4474C54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8DD99-9474-4896-B45F-64200F9975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2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4F41-A934-9DDC-7129-40453BAC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208781A-83B4-E326-58C2-0DE68FB69E0C}"/>
              </a:ext>
            </a:extLst>
          </p:cNvPr>
          <p:cNvSpPr txBox="1"/>
          <p:nvPr/>
        </p:nvSpPr>
        <p:spPr>
          <a:xfrm>
            <a:off x="6023803" y="5749205"/>
            <a:ext cx="31951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Se denomina condición geográfica esencial.</a:t>
            </a:r>
            <a:endParaRPr lang="es-BO" sz="16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Placa 4">
            <a:extLst>
              <a:ext uri="{FF2B5EF4-FFF2-40B4-BE49-F238E27FC236}">
                <a16:creationId xmlns:a16="http://schemas.microsoft.com/office/drawing/2014/main" id="{C7A35EFD-91CA-3926-63B2-D9DC31089DD7}"/>
              </a:ext>
            </a:extLst>
          </p:cNvPr>
          <p:cNvSpPr/>
          <p:nvPr/>
        </p:nvSpPr>
        <p:spPr>
          <a:xfrm>
            <a:off x="0" y="116632"/>
            <a:ext cx="12192000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FACTORES GEOGRÁFICOS Y SU INFLUENCIA MILITAR</a:t>
            </a:r>
            <a:endParaRPr lang="es-BO" sz="28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F14BA4-91EF-DCB2-CE98-23248F248ADE}"/>
              </a:ext>
            </a:extLst>
          </p:cNvPr>
          <p:cNvSpPr txBox="1"/>
          <p:nvPr/>
        </p:nvSpPr>
        <p:spPr>
          <a:xfrm>
            <a:off x="5130887" y="1713041"/>
            <a:ext cx="5650994" cy="4115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Es la ubicación de un país dentro del globo terrestre</a:t>
            </a:r>
            <a:endParaRPr lang="es-BO" sz="16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3B7A2A-0FD2-F017-C143-6AE284064905}"/>
              </a:ext>
            </a:extLst>
          </p:cNvPr>
          <p:cNvSpPr txBox="1"/>
          <p:nvPr/>
        </p:nvSpPr>
        <p:spPr>
          <a:xfrm>
            <a:off x="2495601" y="3665662"/>
            <a:ext cx="3513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Relaciones de un país con los países del mundo, el continente y  vecinos.</a:t>
            </a:r>
          </a:p>
        </p:txBody>
      </p:sp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31EEBA33-B53D-0314-5397-FAEC393E0C7A}"/>
              </a:ext>
            </a:extLst>
          </p:cNvPr>
          <p:cNvSpPr/>
          <p:nvPr/>
        </p:nvSpPr>
        <p:spPr>
          <a:xfrm>
            <a:off x="3114853" y="1810306"/>
            <a:ext cx="2016034" cy="720081"/>
          </a:xfrm>
          <a:prstGeom prst="homePlate">
            <a:avLst/>
          </a:prstGeom>
          <a:solidFill>
            <a:srgbClr val="32CC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4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La posición geográfica</a:t>
            </a:r>
            <a:endParaRPr lang="es-BO" sz="1400" dirty="0">
              <a:solidFill>
                <a:srgbClr val="FFFF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43B094B-1227-8ECF-DC12-DDED1F9A19F5}"/>
              </a:ext>
            </a:extLst>
          </p:cNvPr>
          <p:cNvSpPr txBox="1"/>
          <p:nvPr/>
        </p:nvSpPr>
        <p:spPr>
          <a:xfrm>
            <a:off x="2646706" y="1815964"/>
            <a:ext cx="576540" cy="411588"/>
          </a:xfrm>
          <a:prstGeom prst="rect">
            <a:avLst/>
          </a:prstGeom>
          <a:solidFill>
            <a:srgbClr val="32CCFE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1</a:t>
            </a:r>
            <a:endParaRPr lang="es-BO" sz="16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9F59A9CB-E70E-DD24-4D5A-7ECEE3F71FA0}"/>
              </a:ext>
            </a:extLst>
          </p:cNvPr>
          <p:cNvGrpSpPr/>
          <p:nvPr/>
        </p:nvGrpSpPr>
        <p:grpSpPr>
          <a:xfrm>
            <a:off x="3314337" y="2698948"/>
            <a:ext cx="2737366" cy="871776"/>
            <a:chOff x="2005027" y="2490447"/>
            <a:chExt cx="2923759" cy="1143923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C9C38A3B-1F71-6A36-BAA4-001DAD8D0F06}"/>
                </a:ext>
              </a:extLst>
            </p:cNvPr>
            <p:cNvGrpSpPr/>
            <p:nvPr/>
          </p:nvGrpSpPr>
          <p:grpSpPr>
            <a:xfrm>
              <a:off x="2005027" y="2755173"/>
              <a:ext cx="2520280" cy="879197"/>
              <a:chOff x="6588224" y="4941168"/>
              <a:chExt cx="2376264" cy="792088"/>
            </a:xfrm>
          </p:grpSpPr>
          <p:sp>
            <p:nvSpPr>
              <p:cNvPr id="13" name="Flecha: pentágono 12">
                <a:extLst>
                  <a:ext uri="{FF2B5EF4-FFF2-40B4-BE49-F238E27FC236}">
                    <a16:creationId xmlns:a16="http://schemas.microsoft.com/office/drawing/2014/main" id="{61FCA2F1-4B5A-7F84-3B50-7C5BE55D2162}"/>
                  </a:ext>
                </a:extLst>
              </p:cNvPr>
              <p:cNvSpPr/>
              <p:nvPr/>
            </p:nvSpPr>
            <p:spPr>
              <a:xfrm rot="10800000">
                <a:off x="6588224" y="4941168"/>
                <a:ext cx="2376264" cy="792088"/>
              </a:xfrm>
              <a:prstGeom prst="homePlat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BO" sz="1400" dirty="0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C211CD7-384C-80FD-A235-B809180C2ECA}"/>
                  </a:ext>
                </a:extLst>
              </p:cNvPr>
              <p:cNvSpPr txBox="1"/>
              <p:nvPr/>
            </p:nvSpPr>
            <p:spPr>
              <a:xfrm>
                <a:off x="6927690" y="5070916"/>
                <a:ext cx="2016224" cy="61853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rgbClr val="0070C0"/>
                    </a:solidFill>
                    <a:latin typeface="Bahnschrift SemiBold" panose="020B0502040204020203" pitchFamily="34" charset="0"/>
                    <a:ea typeface="Times New Roman" panose="02020603050405020304" pitchFamily="18" charset="0"/>
                  </a:rPr>
                  <a:t>la situación Geográfica Relativa</a:t>
                </a:r>
                <a:endParaRPr lang="es-BO" sz="1400" dirty="0">
                  <a:solidFill>
                    <a:srgbClr val="0070C0"/>
                  </a:solidFill>
                  <a:latin typeface="Bahnschrift SemiBold" panose="020B0502040204020203" pitchFamily="34" charset="0"/>
                </a:endParaRPr>
              </a:p>
            </p:txBody>
          </p:sp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FB94086-BEC5-E1B1-8B16-04D1765802EA}"/>
                </a:ext>
              </a:extLst>
            </p:cNvPr>
            <p:cNvSpPr txBox="1"/>
            <p:nvPr/>
          </p:nvSpPr>
          <p:spPr>
            <a:xfrm>
              <a:off x="4352246" y="2490447"/>
              <a:ext cx="576540" cy="487657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ES" sz="14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2</a:t>
              </a:r>
              <a:endParaRPr lang="es-BO" sz="14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E1CF112-425A-0D1A-58D1-29CC7A4D5F83}"/>
              </a:ext>
            </a:extLst>
          </p:cNvPr>
          <p:cNvGrpSpPr/>
          <p:nvPr/>
        </p:nvGrpSpPr>
        <p:grpSpPr>
          <a:xfrm>
            <a:off x="5695589" y="4774922"/>
            <a:ext cx="2869179" cy="829211"/>
            <a:chOff x="4283730" y="4832037"/>
            <a:chExt cx="2869179" cy="829211"/>
          </a:xfrm>
        </p:grpSpPr>
        <p:sp>
          <p:nvSpPr>
            <p:cNvPr id="17" name="Flecha: pentágono 16">
              <a:extLst>
                <a:ext uri="{FF2B5EF4-FFF2-40B4-BE49-F238E27FC236}">
                  <a16:creationId xmlns:a16="http://schemas.microsoft.com/office/drawing/2014/main" id="{8E1B1809-CF4C-83E4-1A49-D454FB4B3698}"/>
                </a:ext>
              </a:extLst>
            </p:cNvPr>
            <p:cNvSpPr/>
            <p:nvPr/>
          </p:nvSpPr>
          <p:spPr>
            <a:xfrm>
              <a:off x="4848653" y="4984832"/>
              <a:ext cx="2304256" cy="676416"/>
            </a:xfrm>
            <a:prstGeom prst="homePlat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1400" dirty="0">
                  <a:solidFill>
                    <a:srgbClr val="FFFF00"/>
                  </a:solidFill>
                  <a:latin typeface="Bahnschrift SemiBold" panose="020B0502040204020203" pitchFamily="34" charset="0"/>
                </a:rPr>
                <a:t>Mayor o menor contacto con el océano</a:t>
              </a:r>
              <a:endParaRPr lang="es-BO" sz="1400" dirty="0">
                <a:solidFill>
                  <a:srgbClr val="FFFF0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55F2FCF-F7BD-D856-B87E-03D1258A4EE1}"/>
                </a:ext>
              </a:extLst>
            </p:cNvPr>
            <p:cNvSpPr txBox="1"/>
            <p:nvPr/>
          </p:nvSpPr>
          <p:spPr>
            <a:xfrm>
              <a:off x="4283730" y="4832037"/>
              <a:ext cx="576540" cy="371640"/>
            </a:xfrm>
            <a:prstGeom prst="rect">
              <a:avLst/>
            </a:prstGeom>
            <a:solidFill>
              <a:srgbClr val="92D050"/>
            </a:solidFill>
            <a:ln w="28575">
              <a:solidFill>
                <a:srgbClr val="09B25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ES" sz="14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3</a:t>
              </a:r>
              <a:endParaRPr lang="es-BO" sz="14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</p:grpSp>
      <p:pic>
        <p:nvPicPr>
          <p:cNvPr id="24" name="Picture 2" descr="Posicion Geografica y Limites de Venezuela | PDF">
            <a:extLst>
              <a:ext uri="{FF2B5EF4-FFF2-40B4-BE49-F238E27FC236}">
                <a16:creationId xmlns:a16="http://schemas.microsoft.com/office/drawing/2014/main" id="{8D0A1E4D-F91C-E811-01A0-6E6A9F6BB9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5" t="17569" r="48872" b="63580"/>
          <a:stretch/>
        </p:blipFill>
        <p:spPr bwMode="auto">
          <a:xfrm>
            <a:off x="498804" y="1623026"/>
            <a:ext cx="1996797" cy="97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Posicion Geografica y Limites de Venezuela | PDF">
            <a:extLst>
              <a:ext uri="{FF2B5EF4-FFF2-40B4-BE49-F238E27FC236}">
                <a16:creationId xmlns:a16="http://schemas.microsoft.com/office/drawing/2014/main" id="{02F15B29-50D9-BBC2-F4BD-BA36F8195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9" t="41918" r="15672" b="31770"/>
          <a:stretch/>
        </p:blipFill>
        <p:spPr bwMode="auto">
          <a:xfrm>
            <a:off x="6371319" y="2691594"/>
            <a:ext cx="1731551" cy="153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mbres de los océanos del mundo - ¡Con mapas!">
            <a:extLst>
              <a:ext uri="{FF2B5EF4-FFF2-40B4-BE49-F238E27FC236}">
                <a16:creationId xmlns:a16="http://schemas.microsoft.com/office/drawing/2014/main" id="{DDFF550C-6B23-DAF9-C312-D020D0906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234" y="5042960"/>
            <a:ext cx="2215153" cy="112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257E662-1252-2E09-0270-78CEF2597C72}"/>
              </a:ext>
            </a:extLst>
          </p:cNvPr>
          <p:cNvSpPr txBox="1"/>
          <p:nvPr/>
        </p:nvSpPr>
        <p:spPr>
          <a:xfrm>
            <a:off x="4142321" y="1030566"/>
            <a:ext cx="292213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SITUACION GEOGRÁFICA</a:t>
            </a:r>
            <a:endParaRPr lang="es-BO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351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7A87-30EE-C435-3FBB-3276132E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38532EE1-E6D4-00BE-BB34-78E06117A307}"/>
              </a:ext>
            </a:extLst>
          </p:cNvPr>
          <p:cNvSpPr/>
          <p:nvPr/>
        </p:nvSpPr>
        <p:spPr>
          <a:xfrm>
            <a:off x="84083" y="44624"/>
            <a:ext cx="11866179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CONDICION GEOGRÁFICA ESENCIAL</a:t>
            </a:r>
            <a:endParaRPr lang="es-BO" sz="28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E546D5-35F9-E156-B8BE-31F3CC469CCD}"/>
              </a:ext>
            </a:extLst>
          </p:cNvPr>
          <p:cNvSpPr txBox="1"/>
          <p:nvPr/>
        </p:nvSpPr>
        <p:spPr>
          <a:xfrm>
            <a:off x="283779" y="981047"/>
            <a:ext cx="10773104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Mayor o menor contacto de una nación con el océano y sus consecuencias en los órganos de poder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7E773E-9D5D-6D9B-9F68-6A1E6ECF7746}"/>
              </a:ext>
            </a:extLst>
          </p:cNvPr>
          <p:cNvSpPr txBox="1"/>
          <p:nvPr/>
        </p:nvSpPr>
        <p:spPr>
          <a:xfrm>
            <a:off x="509585" y="1548738"/>
            <a:ext cx="7920880" cy="45147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Clasificación de las naciones según la condición geográfica esencial</a:t>
            </a:r>
            <a:endParaRPr lang="es-BO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7D97C9-0138-D2D8-55F5-F5B6990DD251}"/>
              </a:ext>
            </a:extLst>
          </p:cNvPr>
          <p:cNvSpPr txBox="1"/>
          <p:nvPr/>
        </p:nvSpPr>
        <p:spPr>
          <a:xfrm>
            <a:off x="509586" y="2336837"/>
            <a:ext cx="4892732" cy="169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Naciones mediterráneas o continentales.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Son aquellas que no poseen litoral soberano, existiendo un riesgo de bloqueo, no hay libertad de acción.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170068-C60F-D1B3-7D2B-A897C11D5EDE}"/>
              </a:ext>
            </a:extLst>
          </p:cNvPr>
          <p:cNvSpPr txBox="1"/>
          <p:nvPr/>
        </p:nvSpPr>
        <p:spPr>
          <a:xfrm>
            <a:off x="6279765" y="2295732"/>
            <a:ext cx="4976815" cy="169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Naciones marítimas e insulares.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los pasos con dominio marítimo la iniciativa estratégica esta esta en manos de quien ejercer su dominio. 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5986E2-71D7-24BE-4B9F-A1C2151D15AD}"/>
              </a:ext>
            </a:extLst>
          </p:cNvPr>
          <p:cNvSpPr txBox="1"/>
          <p:nvPr/>
        </p:nvSpPr>
        <p:spPr>
          <a:xfrm>
            <a:off x="3428917" y="4675742"/>
            <a:ext cx="4482828" cy="169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Naciones mixtas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Pasos mixtos aquellos que su contacto con el océano puede ser amplio o reducido.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5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3D0B1-392C-4E17-E6CE-5E88AD2C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5FF325-F7D9-00DC-6D52-41B4BA7E1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177663"/>
              </p:ext>
            </p:extLst>
          </p:nvPr>
        </p:nvGraphicFramePr>
        <p:xfrm>
          <a:off x="1051034" y="978446"/>
          <a:ext cx="10289628" cy="4880421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508938">
                  <a:extLst>
                    <a:ext uri="{9D8B030D-6E8A-4147-A177-3AD203B41FA5}">
                      <a16:colId xmlns:a16="http://schemas.microsoft.com/office/drawing/2014/main" val="3401041915"/>
                    </a:ext>
                  </a:extLst>
                </a:gridCol>
                <a:gridCol w="5780690">
                  <a:extLst>
                    <a:ext uri="{9D8B030D-6E8A-4147-A177-3AD203B41FA5}">
                      <a16:colId xmlns:a16="http://schemas.microsoft.com/office/drawing/2014/main" val="3339941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b="0" dirty="0">
                          <a:solidFill>
                            <a:srgbClr val="C00000"/>
                          </a:solidFill>
                          <a:latin typeface="Bahnschrift SemiBold" panose="020B0502040204020203" pitchFamily="34" charset="0"/>
                        </a:rPr>
                        <a:t>Estrategia: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Lucha de voluntades para resolver un conflicto</a:t>
                      </a:r>
                      <a:r>
                        <a:rPr lang="es-ES_tradnl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ES_tradnl" altLang="es-BO" sz="1600" b="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s-BO" sz="1200" b="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9388" indent="-179388" algn="just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s-ES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Los lineamientos de la planificación estratégica de un país</a:t>
                      </a:r>
                    </a:p>
                    <a:p>
                      <a:pPr marL="179388" indent="-179388" algn="just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s-ES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De acuerdo a las características geográficas esenciales.</a:t>
                      </a:r>
                    </a:p>
                    <a:p>
                      <a:pPr marL="179388" indent="-179388" algn="just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s-ES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Establece que fuerza de la defensa nacional tendrá prioridad en el peso  de las operaciones</a:t>
                      </a:r>
                      <a:endParaRPr lang="es-BO" sz="1600" b="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61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dirty="0">
                          <a:solidFill>
                            <a:srgbClr val="C00000"/>
                          </a:solidFill>
                          <a:latin typeface="Bahnschrift SemiBold" panose="020B0502040204020203" pitchFamily="34" charset="0"/>
                        </a:rPr>
                        <a:t>Organización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De acuerdo a</a:t>
                      </a:r>
                      <a:r>
                        <a:rPr lang="es-ES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las finalidades</a:t>
                      </a:r>
                      <a:r>
                        <a:rPr lang="es-ES_tradnl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establecidas por la estrategia,</a:t>
                      </a:r>
                      <a:r>
                        <a:rPr lang="es-ES_tradnl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reu</a:t>
                      </a:r>
                      <a:r>
                        <a:rPr lang="es-ES_tradnl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ne </a:t>
                      </a:r>
                      <a:r>
                        <a:rPr lang="es-ES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y organiza</a:t>
                      </a:r>
                      <a:r>
                        <a:rPr lang="es-ES_tradnl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a</a:t>
                      </a:r>
                      <a:r>
                        <a:rPr lang="es-ES" altLang="es-BO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hombres y medios, para el empleo</a:t>
                      </a:r>
                      <a:endParaRPr lang="es-ES_tradnl" altLang="es-BO" sz="160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Establecer en general, cual seria la organización militar que requiere el país</a:t>
                      </a:r>
                      <a:endParaRPr lang="es-BO" sz="160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12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dirty="0">
                          <a:solidFill>
                            <a:srgbClr val="C00000"/>
                          </a:solidFill>
                          <a:latin typeface="Bahnschrift SemiBold" panose="020B0502040204020203" pitchFamily="34" charset="0"/>
                        </a:rPr>
                        <a:t>Logística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es-ES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Mantener las F</a:t>
                      </a:r>
                      <a:r>
                        <a:rPr lang="es-ES_tradnl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zas.</a:t>
                      </a:r>
                      <a:r>
                        <a:rPr lang="es-ES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altLang="es-BO" sz="1600" b="0" dirty="0" err="1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Org</a:t>
                      </a:r>
                      <a:r>
                        <a:rPr lang="es-ES_tradnl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s-ES" altLang="es-BO" sz="1600" b="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  <a:cs typeface="Arial" panose="020B0604020202020204" pitchFamily="34" charset="0"/>
                        </a:rPr>
                        <a:t> En las mejores condiciones de empleo objeto es satisfacer necesidades de las tropas en medio de vida y de combate.</a:t>
                      </a:r>
                      <a:endParaRPr lang="es-ES" altLang="es-BO" sz="1600" b="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Establecer las necesidades de vida y combate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Que requerirán para mantener alimentado al esfuerzo nacional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1600" dirty="0">
                          <a:solidFill>
                            <a:srgbClr val="0070C0"/>
                          </a:solidFill>
                          <a:latin typeface="Bahnschrift SemiBold" panose="020B0502040204020203" pitchFamily="34" charset="0"/>
                        </a:rPr>
                        <a:t> y sus relaciones con las fuentes de abastecimientos.</a:t>
                      </a:r>
                      <a:endParaRPr lang="es-BO" sz="1600" dirty="0">
                        <a:solidFill>
                          <a:srgbClr val="0070C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33581"/>
                  </a:ext>
                </a:extLst>
              </a:tr>
            </a:tbl>
          </a:graphicData>
        </a:graphic>
      </p:graphicFrame>
      <p:sp>
        <p:nvSpPr>
          <p:cNvPr id="5" name="Placa 4">
            <a:extLst>
              <a:ext uri="{FF2B5EF4-FFF2-40B4-BE49-F238E27FC236}">
                <a16:creationId xmlns:a16="http://schemas.microsoft.com/office/drawing/2014/main" id="{0C8A78DB-F254-4AC6-EBB0-6B8028BC0AB7}"/>
              </a:ext>
            </a:extLst>
          </p:cNvPr>
          <p:cNvSpPr/>
          <p:nvPr/>
        </p:nvSpPr>
        <p:spPr>
          <a:xfrm>
            <a:off x="178677" y="44624"/>
            <a:ext cx="11550868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DEDUCCIONES MILITARES DE LA CONDICION GEOGRÁFICA ESENCIAL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84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BB3F-8278-75C8-5C54-52E96395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4FB7C4E9-AC1A-E5B0-EBBC-E6E62E4DDF67}"/>
              </a:ext>
            </a:extLst>
          </p:cNvPr>
          <p:cNvSpPr/>
          <p:nvPr/>
        </p:nvSpPr>
        <p:spPr>
          <a:xfrm>
            <a:off x="0" y="44624"/>
            <a:ext cx="12076386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ESPACIO O SUPERFICIE DEL TERRITORIO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F79A82-ECA1-AC11-F3B7-925D31FB85FB}"/>
              </a:ext>
            </a:extLst>
          </p:cNvPr>
          <p:cNvSpPr txBox="1"/>
          <p:nvPr/>
        </p:nvSpPr>
        <p:spPr>
          <a:xfrm>
            <a:off x="3989246" y="2233742"/>
            <a:ext cx="76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Área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327B79-2309-66E9-7816-A48CD27BF413}"/>
              </a:ext>
            </a:extLst>
          </p:cNvPr>
          <p:cNvSpPr txBox="1"/>
          <p:nvPr/>
        </p:nvSpPr>
        <p:spPr>
          <a:xfrm>
            <a:off x="7389738" y="3204204"/>
            <a:ext cx="3816426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Territorio poblado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Contar con recursos naturales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Eficiente organización política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14A63E-4A2D-C8BB-1ADE-6691A562939E}"/>
              </a:ext>
            </a:extLst>
          </p:cNvPr>
          <p:cNvSpPr txBox="1"/>
          <p:nvPr/>
        </p:nvSpPr>
        <p:spPr>
          <a:xfrm>
            <a:off x="7209064" y="1576610"/>
            <a:ext cx="2286000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Que ocupa un país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E5869F-B383-432E-10AB-C9245C9FA514}"/>
              </a:ext>
            </a:extLst>
          </p:cNvPr>
          <p:cNvSpPr txBox="1"/>
          <p:nvPr/>
        </p:nvSpPr>
        <p:spPr>
          <a:xfrm>
            <a:off x="4002885" y="2774891"/>
            <a:ext cx="2984769" cy="4514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influencia de la superficie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068640-0E38-AFC8-233D-B19AF2BDF017}"/>
              </a:ext>
            </a:extLst>
          </p:cNvPr>
          <p:cNvSpPr txBox="1"/>
          <p:nvPr/>
        </p:nvSpPr>
        <p:spPr>
          <a:xfrm>
            <a:off x="2536915" y="3583172"/>
            <a:ext cx="2125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Desenvolvimiento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E22B3F-4D76-8D88-F891-DC0579AC2AA7}"/>
              </a:ext>
            </a:extLst>
          </p:cNvPr>
          <p:cNvSpPr txBox="1"/>
          <p:nvPr/>
        </p:nvSpPr>
        <p:spPr>
          <a:xfrm>
            <a:off x="467204" y="1509047"/>
            <a:ext cx="2772308" cy="451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Se entiende por espacio</a:t>
            </a:r>
          </a:p>
        </p:txBody>
      </p:sp>
      <p:pic>
        <p:nvPicPr>
          <p:cNvPr id="11" name="Picture 27" descr="Tres flechas que apuntan en diferentes direcciones elección de ruta icono  de flecha de color ilustración vectorial | Vector Premium">
            <a:extLst>
              <a:ext uri="{FF2B5EF4-FFF2-40B4-BE49-F238E27FC236}">
                <a16:creationId xmlns:a16="http://schemas.microsoft.com/office/drawing/2014/main" id="{CC661D30-0DB5-7A8B-9B02-E64D732D8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402589" y="1421119"/>
            <a:ext cx="1023937" cy="76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7A03306-4CCE-872A-41B3-9E70ECF7440E}"/>
              </a:ext>
            </a:extLst>
          </p:cNvPr>
          <p:cNvSpPr txBox="1"/>
          <p:nvPr/>
        </p:nvSpPr>
        <p:spPr>
          <a:xfrm>
            <a:off x="3532925" y="1002345"/>
            <a:ext cx="130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Superficie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8D6618-0EB6-301A-0B33-17F350930E36}"/>
              </a:ext>
            </a:extLst>
          </p:cNvPr>
          <p:cNvSpPr txBox="1"/>
          <p:nvPr/>
        </p:nvSpPr>
        <p:spPr>
          <a:xfrm>
            <a:off x="4483920" y="1697999"/>
            <a:ext cx="120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Extensión</a:t>
            </a:r>
          </a:p>
        </p:txBody>
      </p:sp>
      <p:pic>
        <p:nvPicPr>
          <p:cNvPr id="15" name="Picture 15" descr="Conjunto de dos flechas de dirección de forma plana en el estilo.  Ilustración vectorial. Icono de dirección carretera aislados Imagen Vector  de stock - Alamy">
            <a:extLst>
              <a:ext uri="{FF2B5EF4-FFF2-40B4-BE49-F238E27FC236}">
                <a16:creationId xmlns:a16="http://schemas.microsoft.com/office/drawing/2014/main" id="{1DE4B335-8619-DE96-65BB-FE44F8D7A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8" t="13190" r="7587" b="37262"/>
          <a:stretch>
            <a:fillRect/>
          </a:stretch>
        </p:blipFill>
        <p:spPr bwMode="auto">
          <a:xfrm rot="10800000">
            <a:off x="4737579" y="3262862"/>
            <a:ext cx="977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9239AAB-4D6B-1920-6A45-2589C5625C35}"/>
              </a:ext>
            </a:extLst>
          </p:cNvPr>
          <p:cNvSpPr txBox="1"/>
          <p:nvPr/>
        </p:nvSpPr>
        <p:spPr>
          <a:xfrm>
            <a:off x="5683488" y="3660771"/>
            <a:ext cx="114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Poderío</a:t>
            </a:r>
          </a:p>
        </p:txBody>
      </p:sp>
      <p:pic>
        <p:nvPicPr>
          <p:cNvPr id="18" name="Imagen 35">
            <a:extLst>
              <a:ext uri="{FF2B5EF4-FFF2-40B4-BE49-F238E27FC236}">
                <a16:creationId xmlns:a16="http://schemas.microsoft.com/office/drawing/2014/main" id="{FA607A03-09B8-7F34-8ABE-6CDF0C37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6" t="31551" r="42538" b="44577"/>
          <a:stretch>
            <a:fillRect/>
          </a:stretch>
        </p:blipFill>
        <p:spPr bwMode="auto">
          <a:xfrm>
            <a:off x="4223793" y="5416972"/>
            <a:ext cx="3160126" cy="843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399C7E6-1842-BF70-6357-44B2B57AA8D4}"/>
              </a:ext>
            </a:extLst>
          </p:cNvPr>
          <p:cNvSpPr txBox="1"/>
          <p:nvPr/>
        </p:nvSpPr>
        <p:spPr>
          <a:xfrm>
            <a:off x="4223793" y="4814106"/>
            <a:ext cx="3525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Para su análisis se considera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9C9F09B-A99D-3B22-0C77-CAB85A24EAA9}"/>
              </a:ext>
            </a:extLst>
          </p:cNvPr>
          <p:cNvSpPr txBox="1"/>
          <p:nvPr/>
        </p:nvSpPr>
        <p:spPr>
          <a:xfrm>
            <a:off x="4439816" y="5590982"/>
            <a:ext cx="1131136" cy="58477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Grandes espacios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E18EE6-B440-5F32-04CB-CA8803928449}"/>
              </a:ext>
            </a:extLst>
          </p:cNvPr>
          <p:cNvSpPr txBox="1"/>
          <p:nvPr/>
        </p:nvSpPr>
        <p:spPr>
          <a:xfrm>
            <a:off x="6096000" y="5589241"/>
            <a:ext cx="1131136" cy="58477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Pequeños espacios</a:t>
            </a:r>
          </a:p>
        </p:txBody>
      </p:sp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5ED20D20-5EF8-6C7A-7A97-84DA45C0B9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9121" y="5126350"/>
          <a:ext cx="6064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5" imgW="8022590" imgH="4878070" progId="MS_ClipArt_Gallery.2">
                  <p:embed/>
                </p:oleObj>
              </mc:Choice>
              <mc:Fallback>
                <p:oleObj name="Imagen" r:id="rId5" imgW="8022590" imgH="4878070" progId="MS_ClipArt_Gallery.2">
                  <p:embed/>
                  <p:pic>
                    <p:nvPicPr>
                      <p:cNvPr id="23" name="Object 12">
                        <a:extLst>
                          <a:ext uri="{FF2B5EF4-FFF2-40B4-BE49-F238E27FC236}">
                            <a16:creationId xmlns:a16="http://schemas.microsoft.com/office/drawing/2014/main" id="{5ED20D20-5EF8-6C7A-7A97-84DA45C0B9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121" y="5126350"/>
                        <a:ext cx="6064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959B99B6-8DDA-A590-04FC-AA120CEA23E6}"/>
              </a:ext>
            </a:extLst>
          </p:cNvPr>
          <p:cNvSpPr/>
          <p:nvPr/>
        </p:nvSpPr>
        <p:spPr>
          <a:xfrm>
            <a:off x="6661389" y="3660771"/>
            <a:ext cx="782624" cy="427192"/>
          </a:xfrm>
          <a:prstGeom prst="rightArrow">
            <a:avLst/>
          </a:prstGeom>
          <a:solidFill>
            <a:srgbClr val="FF0000"/>
          </a:solidFill>
          <a:ln>
            <a:noFill/>
          </a:ln>
          <a:scene3d>
            <a:camera prst="obliqueBottomLeft"/>
            <a:lightRig rig="threePt" dir="t"/>
          </a:scene3d>
          <a:sp3d extrusionH="254000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5D1E6A2B-D4FB-0CFA-1158-6AD8A9D9D0EB}"/>
              </a:ext>
            </a:extLst>
          </p:cNvPr>
          <p:cNvSpPr/>
          <p:nvPr/>
        </p:nvSpPr>
        <p:spPr>
          <a:xfrm>
            <a:off x="6210295" y="1734782"/>
            <a:ext cx="782624" cy="427192"/>
          </a:xfrm>
          <a:prstGeom prst="rightArrow">
            <a:avLst/>
          </a:prstGeom>
          <a:solidFill>
            <a:srgbClr val="FF0000"/>
          </a:solidFill>
          <a:ln>
            <a:noFill/>
          </a:ln>
          <a:scene3d>
            <a:camera prst="obliqueBottomLeft"/>
            <a:lightRig rig="threePt" dir="t"/>
          </a:scene3d>
          <a:sp3d extrusionH="254000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1092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EF25-C9B5-EA75-7370-40354922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26233E3B-F9F2-E372-1666-08709FB46EB8}"/>
              </a:ext>
            </a:extLst>
          </p:cNvPr>
          <p:cNvSpPr/>
          <p:nvPr/>
        </p:nvSpPr>
        <p:spPr>
          <a:xfrm>
            <a:off x="0" y="44624"/>
            <a:ext cx="12076386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ESPACIO O SUPERFICIE DEL TERRITORIO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B03BCC-CE75-209F-C2FB-3A32E5B90136}"/>
              </a:ext>
            </a:extLst>
          </p:cNvPr>
          <p:cNvSpPr txBox="1"/>
          <p:nvPr/>
        </p:nvSpPr>
        <p:spPr>
          <a:xfrm>
            <a:off x="4099682" y="1178684"/>
            <a:ext cx="3525302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Para su análisis se considera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1BC6DAB-504B-E870-3AC1-BC10684D5A06}"/>
              </a:ext>
            </a:extLst>
          </p:cNvPr>
          <p:cNvGrpSpPr/>
          <p:nvPr/>
        </p:nvGrpSpPr>
        <p:grpSpPr>
          <a:xfrm>
            <a:off x="1502979" y="1555607"/>
            <a:ext cx="2320380" cy="843382"/>
            <a:chOff x="3750827" y="2585618"/>
            <a:chExt cx="1525366" cy="843382"/>
          </a:xfrm>
        </p:grpSpPr>
        <p:pic>
          <p:nvPicPr>
            <p:cNvPr id="18" name="Imagen 35">
              <a:extLst>
                <a:ext uri="{FF2B5EF4-FFF2-40B4-BE49-F238E27FC236}">
                  <a16:creationId xmlns:a16="http://schemas.microsoft.com/office/drawing/2014/main" id="{ED4BC574-9007-C31B-BF8F-FD520602E4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86" t="31551" r="67253" b="44577"/>
            <a:stretch/>
          </p:blipFill>
          <p:spPr bwMode="auto">
            <a:xfrm>
              <a:off x="3750827" y="2585618"/>
              <a:ext cx="1525366" cy="843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BBCBD99-357C-2732-0A08-0DC8F4AB6130}"/>
                </a:ext>
              </a:extLst>
            </p:cNvPr>
            <p:cNvSpPr txBox="1"/>
            <p:nvPr/>
          </p:nvSpPr>
          <p:spPr>
            <a:xfrm>
              <a:off x="3947942" y="2752407"/>
              <a:ext cx="1131136" cy="58477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" sz="16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Grandes espacios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CE403BC-CC8B-F387-E042-218F3E6EDBF5}"/>
              </a:ext>
            </a:extLst>
          </p:cNvPr>
          <p:cNvGrpSpPr/>
          <p:nvPr/>
        </p:nvGrpSpPr>
        <p:grpSpPr>
          <a:xfrm>
            <a:off x="7525407" y="1584481"/>
            <a:ext cx="2438400" cy="843382"/>
            <a:chOff x="7504386" y="2363625"/>
            <a:chExt cx="1508636" cy="843382"/>
          </a:xfrm>
        </p:grpSpPr>
        <p:pic>
          <p:nvPicPr>
            <p:cNvPr id="14" name="Imagen 35">
              <a:extLst>
                <a:ext uri="{FF2B5EF4-FFF2-40B4-BE49-F238E27FC236}">
                  <a16:creationId xmlns:a16="http://schemas.microsoft.com/office/drawing/2014/main" id="{5E120C76-19A0-5BB1-5C6D-7A0B8A8D6C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54" t="31551" r="42538" b="44577"/>
            <a:stretch/>
          </p:blipFill>
          <p:spPr bwMode="auto">
            <a:xfrm>
              <a:off x="7504386" y="2363625"/>
              <a:ext cx="1508636" cy="843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5267D20-F868-5F73-E4AF-87619DD8FABD}"/>
                </a:ext>
              </a:extLst>
            </p:cNvPr>
            <p:cNvSpPr txBox="1"/>
            <p:nvPr/>
          </p:nvSpPr>
          <p:spPr>
            <a:xfrm>
              <a:off x="7667024" y="2513948"/>
              <a:ext cx="1131136" cy="58477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" sz="16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Pequeños espacios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F79F5A3-D157-B5A2-0D9F-69F07688A2D5}"/>
              </a:ext>
            </a:extLst>
          </p:cNvPr>
          <p:cNvSpPr txBox="1"/>
          <p:nvPr/>
        </p:nvSpPr>
        <p:spPr>
          <a:xfrm>
            <a:off x="591161" y="2410900"/>
            <a:ext cx="5273612" cy="128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Superficie extensa de una nación, con una mayor partes o casi el total  de un continente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Requisito para ser Estado poderoso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2D92297-BA3C-E3FA-0CCB-99F7D27CA110}"/>
              </a:ext>
            </a:extLst>
          </p:cNvPr>
          <p:cNvSpPr txBox="1"/>
          <p:nvPr/>
        </p:nvSpPr>
        <p:spPr>
          <a:xfrm>
            <a:off x="591160" y="3621198"/>
            <a:ext cx="5504840" cy="252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Ventajas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Posibilidad de disponer materias primas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Puede albergar mayor población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Desventajas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Desarrollo más lento que los pequeños Estados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Dificultad en las comunicaciones.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4362409-5303-65A7-0FDA-ADC5D05FA8B3}"/>
              </a:ext>
            </a:extLst>
          </p:cNvPr>
          <p:cNvSpPr txBox="1"/>
          <p:nvPr/>
        </p:nvSpPr>
        <p:spPr>
          <a:xfrm>
            <a:off x="6582057" y="2496353"/>
            <a:ext cx="5018782" cy="8669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la antigüedad los centros civilizados ocuparon  regiones pequeñas.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5F2EDC0-9B8C-AA8B-79BF-9C8DA53D12C3}"/>
              </a:ext>
            </a:extLst>
          </p:cNvPr>
          <p:cNvSpPr txBox="1"/>
          <p:nvPr/>
        </p:nvSpPr>
        <p:spPr>
          <a:xfrm>
            <a:off x="6408871" y="3571478"/>
            <a:ext cx="5273612" cy="252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Ventajas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Facilidad de cohesionar a la nación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Facilidad para las comunicaciones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Desventajas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Limitada oportunidad de desarrollo económico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Mayor necesidad de importaciones.</a:t>
            </a:r>
          </a:p>
        </p:txBody>
      </p:sp>
      <p:sp>
        <p:nvSpPr>
          <p:cNvPr id="30" name="Flecha: a la izquierda, derecha y arriba 29">
            <a:extLst>
              <a:ext uri="{FF2B5EF4-FFF2-40B4-BE49-F238E27FC236}">
                <a16:creationId xmlns:a16="http://schemas.microsoft.com/office/drawing/2014/main" id="{4588F8B5-12F7-D87B-5FAC-1E465EAFB504}"/>
              </a:ext>
            </a:extLst>
          </p:cNvPr>
          <p:cNvSpPr/>
          <p:nvPr/>
        </p:nvSpPr>
        <p:spPr>
          <a:xfrm>
            <a:off x="3823359" y="1616506"/>
            <a:ext cx="3499104" cy="709102"/>
          </a:xfrm>
          <a:prstGeom prst="leftRigh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8646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8745F-3B72-7EE4-17B8-85E4D3FD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a 3">
            <a:extLst>
              <a:ext uri="{FF2B5EF4-FFF2-40B4-BE49-F238E27FC236}">
                <a16:creationId xmlns:a16="http://schemas.microsoft.com/office/drawing/2014/main" id="{D3509A69-2208-6F2F-0054-7F2751BE3780}"/>
              </a:ext>
            </a:extLst>
          </p:cNvPr>
          <p:cNvSpPr/>
          <p:nvPr/>
        </p:nvSpPr>
        <p:spPr>
          <a:xfrm>
            <a:off x="73572" y="44624"/>
            <a:ext cx="11887200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DE LAS FRONTERA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7E5807-512F-CB81-C933-31358282ABE3}"/>
              </a:ext>
            </a:extLst>
          </p:cNvPr>
          <p:cNvSpPr txBox="1"/>
          <p:nvPr/>
        </p:nvSpPr>
        <p:spPr>
          <a:xfrm>
            <a:off x="2414350" y="1112876"/>
            <a:ext cx="7435309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tiempo de paz, limites entre Estados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estado de guerra: Base natural de partida para los beligerantes y 1ra línea de defensa para el invadido.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8ED9CC-9735-9DCD-ABEB-0AB44E4BBBC7}"/>
              </a:ext>
            </a:extLst>
          </p:cNvPr>
          <p:cNvSpPr txBox="1"/>
          <p:nvPr/>
        </p:nvSpPr>
        <p:spPr>
          <a:xfrm>
            <a:off x="5087889" y="2342603"/>
            <a:ext cx="1665427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Clasificación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06825B-E313-9543-C48E-529ED0031391}"/>
              </a:ext>
            </a:extLst>
          </p:cNvPr>
          <p:cNvSpPr txBox="1"/>
          <p:nvPr/>
        </p:nvSpPr>
        <p:spPr>
          <a:xfrm>
            <a:off x="448850" y="2845001"/>
            <a:ext cx="2470701" cy="15195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Políticas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Bosquejadas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Vivas o acumulación.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Muertas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B67D86-C5F6-3ADD-311F-0BFDC92FD9A1}"/>
              </a:ext>
            </a:extLst>
          </p:cNvPr>
          <p:cNvSpPr txBox="1"/>
          <p:nvPr/>
        </p:nvSpPr>
        <p:spPr>
          <a:xfrm>
            <a:off x="4618475" y="2842232"/>
            <a:ext cx="2470701" cy="11502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Económicas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Activas o comerciales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Coloniales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B21829-3246-44A2-0619-63DC3C076ADC}"/>
              </a:ext>
            </a:extLst>
          </p:cNvPr>
          <p:cNvSpPr txBox="1"/>
          <p:nvPr/>
        </p:nvSpPr>
        <p:spPr>
          <a:xfrm>
            <a:off x="8191504" y="2481170"/>
            <a:ext cx="2470701" cy="15195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Militar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naturaleza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longitud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forma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87403C4-DA15-AB11-CC9A-DCE57266DB55}"/>
              </a:ext>
            </a:extLst>
          </p:cNvPr>
          <p:cNvSpPr txBox="1"/>
          <p:nvPr/>
        </p:nvSpPr>
        <p:spPr>
          <a:xfrm>
            <a:off x="2820346" y="4531606"/>
            <a:ext cx="2470701" cy="11502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Naturaleza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Fronteras abiertas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Fronteras cerradas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E4CC14-C1AA-A078-3A0E-00C28832EBF6}"/>
              </a:ext>
            </a:extLst>
          </p:cNvPr>
          <p:cNvSpPr txBox="1"/>
          <p:nvPr/>
        </p:nvSpPr>
        <p:spPr>
          <a:xfrm>
            <a:off x="7482930" y="4462658"/>
            <a:ext cx="2470701" cy="1519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Por sus formas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Recta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Cóncava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Convexa</a:t>
            </a:r>
          </a:p>
        </p:txBody>
      </p:sp>
    </p:spTree>
    <p:extLst>
      <p:ext uri="{BB962C8B-B14F-4D97-AF65-F5344CB8AC3E}">
        <p14:creationId xmlns:p14="http://schemas.microsoft.com/office/powerpoint/2010/main" val="6789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B5E0-3E9D-39DE-EA34-1F30270A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a 3">
            <a:extLst>
              <a:ext uri="{FF2B5EF4-FFF2-40B4-BE49-F238E27FC236}">
                <a16:creationId xmlns:a16="http://schemas.microsoft.com/office/drawing/2014/main" id="{4722541C-4FF4-4F31-BA9D-42384622E08F}"/>
              </a:ext>
            </a:extLst>
          </p:cNvPr>
          <p:cNvSpPr/>
          <p:nvPr/>
        </p:nvSpPr>
        <p:spPr>
          <a:xfrm>
            <a:off x="73572" y="44624"/>
            <a:ext cx="11887200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DE LAS FRONTERA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60786B-31C8-AE57-8E8C-10764E011BC4}"/>
              </a:ext>
            </a:extLst>
          </p:cNvPr>
          <p:cNvSpPr txBox="1"/>
          <p:nvPr/>
        </p:nvSpPr>
        <p:spPr>
          <a:xfrm>
            <a:off x="2414350" y="1112876"/>
            <a:ext cx="7435309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tiempo de paz, limites entre Estados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estado de guerra: Base natural de partida para los beligerantes y 1ra línea de defensa para el invadido.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8C63B3-EAD5-F8B5-5CF7-E93895F203D7}"/>
              </a:ext>
            </a:extLst>
          </p:cNvPr>
          <p:cNvSpPr txBox="1"/>
          <p:nvPr/>
        </p:nvSpPr>
        <p:spPr>
          <a:xfrm>
            <a:off x="5087889" y="2342603"/>
            <a:ext cx="1665427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Clasificación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D9B42F-A9C1-1F93-47E5-27A8302800C8}"/>
              </a:ext>
            </a:extLst>
          </p:cNvPr>
          <p:cNvSpPr txBox="1"/>
          <p:nvPr/>
        </p:nvSpPr>
        <p:spPr>
          <a:xfrm>
            <a:off x="448850" y="2845001"/>
            <a:ext cx="2470701" cy="15195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Políticas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Bosquejadas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Vivas o acumulación.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Muertas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18043-48DF-A88A-F4F3-9C3B90EFFBC3}"/>
              </a:ext>
            </a:extLst>
          </p:cNvPr>
          <p:cNvSpPr txBox="1"/>
          <p:nvPr/>
        </p:nvSpPr>
        <p:spPr>
          <a:xfrm>
            <a:off x="4618475" y="2842232"/>
            <a:ext cx="2470701" cy="11502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Económicas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Activas o comerciales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Coloniales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E0B7177-176F-2EA9-521F-5F959A3F3914}"/>
              </a:ext>
            </a:extLst>
          </p:cNvPr>
          <p:cNvSpPr txBox="1"/>
          <p:nvPr/>
        </p:nvSpPr>
        <p:spPr>
          <a:xfrm>
            <a:off x="8191504" y="2481170"/>
            <a:ext cx="2470701" cy="15195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Militar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naturaleza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longitud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Por su forma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30DC46-E1FC-2DF6-4EDB-FEB49D94DBF2}"/>
              </a:ext>
            </a:extLst>
          </p:cNvPr>
          <p:cNvSpPr txBox="1"/>
          <p:nvPr/>
        </p:nvSpPr>
        <p:spPr>
          <a:xfrm>
            <a:off x="2820346" y="4531606"/>
            <a:ext cx="2470701" cy="11502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Naturaleza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Fronteras abiertas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Fronteras cerradas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39E2BF-76A3-D117-14CF-F84D03D15913}"/>
              </a:ext>
            </a:extLst>
          </p:cNvPr>
          <p:cNvSpPr txBox="1"/>
          <p:nvPr/>
        </p:nvSpPr>
        <p:spPr>
          <a:xfrm>
            <a:off x="7482930" y="4462658"/>
            <a:ext cx="2470701" cy="1519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Por sus formas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Recta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Cóncava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Convexa</a:t>
            </a:r>
          </a:p>
        </p:txBody>
      </p:sp>
    </p:spTree>
    <p:extLst>
      <p:ext uri="{BB962C8B-B14F-4D97-AF65-F5344CB8AC3E}">
        <p14:creationId xmlns:p14="http://schemas.microsoft.com/office/powerpoint/2010/main" val="1068630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556</Words>
  <Application>Microsoft Office PowerPoint</Application>
  <PresentationFormat>Panorámica</PresentationFormat>
  <Paragraphs>112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Bahnschrift SemiBold</vt:lpstr>
      <vt:lpstr>Calibri</vt:lpstr>
      <vt:lpstr>Calibri Light</vt:lpstr>
      <vt:lpstr>Wingdings</vt:lpstr>
      <vt:lpstr>Tema de Office</vt:lpstr>
      <vt:lpstr>Imagen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2025-03-28T15:33:35Z</dcterms:created>
  <dcterms:modified xsi:type="dcterms:W3CDTF">2026-07-23T02:36:07Z</dcterms:modified>
</cp:coreProperties>
</file>